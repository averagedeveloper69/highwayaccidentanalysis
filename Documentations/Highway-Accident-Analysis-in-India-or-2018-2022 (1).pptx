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F293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F293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293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293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293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1F293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692150"/>
            <a:ext cx="6372225" cy="10979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F293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4500" y="1597025"/>
            <a:ext cx="4953635" cy="16217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1F2937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hyperlink" Target="https://gamma.app/?utm_source=made-with-gamma" TargetMode="External"/><Relationship Id="rId9" Type="http://schemas.openxmlformats.org/officeDocument/2006/relationships/image" Target="../media/image7.png"/><Relationship Id="rId10" Type="http://schemas.openxmlformats.org/officeDocument/2006/relationships/image" Target="../media/image8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7.png"/><Relationship Id="rId7" Type="http://schemas.openxmlformats.org/officeDocument/2006/relationships/image" Target="../media/image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1924113"/>
            <a:ext cx="228473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B94A09"/>
                </a:solidFill>
                <a:latin typeface="Courier New"/>
                <a:cs typeface="Courier New"/>
              </a:rPr>
              <a:t>ADS</a:t>
            </a:r>
            <a:r>
              <a:rPr dirty="0" sz="1250" spc="155">
                <a:solidFill>
                  <a:srgbClr val="B94A09"/>
                </a:solidFill>
                <a:latin typeface="Courier New"/>
                <a:cs typeface="Courier New"/>
              </a:rPr>
              <a:t> </a:t>
            </a:r>
            <a:r>
              <a:rPr dirty="0" sz="1250">
                <a:solidFill>
                  <a:srgbClr val="B94A09"/>
                </a:solidFill>
                <a:latin typeface="Courier New"/>
                <a:cs typeface="Courier New"/>
              </a:rPr>
              <a:t>Foundation</a:t>
            </a:r>
            <a:r>
              <a:rPr dirty="0" sz="1250" spc="155">
                <a:solidFill>
                  <a:srgbClr val="B94A09"/>
                </a:solidFill>
                <a:latin typeface="Courier New"/>
                <a:cs typeface="Courier New"/>
              </a:rPr>
              <a:t> </a:t>
            </a:r>
            <a:r>
              <a:rPr dirty="0" sz="1250" spc="-10">
                <a:solidFill>
                  <a:srgbClr val="B94A09"/>
                </a:solidFill>
                <a:latin typeface="Courier New"/>
                <a:cs typeface="Courier New"/>
              </a:rPr>
              <a:t>workshop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2139950"/>
            <a:ext cx="5647055" cy="1789430"/>
          </a:xfrm>
          <a:prstGeom prst="rect"/>
        </p:spPr>
        <p:txBody>
          <a:bodyPr wrap="square" lIns="0" tIns="96520" rIns="0" bIns="0" rtlCol="0" vert="horz">
            <a:spAutoFit/>
          </a:bodyPr>
          <a:lstStyle/>
          <a:p>
            <a:pPr marL="12700" marR="5080">
              <a:lnSpc>
                <a:spcPts val="4420"/>
              </a:lnSpc>
              <a:spcBef>
                <a:spcPts val="760"/>
              </a:spcBef>
            </a:pPr>
            <a:r>
              <a:rPr dirty="0" sz="4200" spc="-125"/>
              <a:t>Highway</a:t>
            </a:r>
            <a:r>
              <a:rPr dirty="0" sz="4200" spc="-315"/>
              <a:t> </a:t>
            </a:r>
            <a:r>
              <a:rPr dirty="0" sz="4200" spc="-30"/>
              <a:t>Accident </a:t>
            </a:r>
            <a:r>
              <a:rPr dirty="0" sz="4200" spc="-80"/>
              <a:t>Analysis</a:t>
            </a:r>
            <a:r>
              <a:rPr dirty="0" sz="4200" spc="-370"/>
              <a:t> </a:t>
            </a:r>
            <a:r>
              <a:rPr dirty="0" sz="4200" spc="-100"/>
              <a:t>in</a:t>
            </a:r>
            <a:r>
              <a:rPr dirty="0" sz="4200" spc="-370"/>
              <a:t> </a:t>
            </a:r>
            <a:r>
              <a:rPr dirty="0" sz="4200" spc="-50"/>
              <a:t>India</a:t>
            </a:r>
            <a:r>
              <a:rPr dirty="0" sz="4200" spc="-370"/>
              <a:t> </a:t>
            </a:r>
            <a:r>
              <a:rPr dirty="0" sz="4200" spc="-865"/>
              <a:t>|</a:t>
            </a:r>
            <a:r>
              <a:rPr dirty="0" sz="4200" spc="-370"/>
              <a:t> </a:t>
            </a:r>
            <a:r>
              <a:rPr dirty="0" sz="4200" spc="-80"/>
              <a:t>2018-</a:t>
            </a:r>
            <a:r>
              <a:rPr dirty="0" sz="4200" spc="-20"/>
              <a:t>2022</a:t>
            </a:r>
            <a:endParaRPr sz="4200"/>
          </a:p>
        </p:txBody>
      </p:sp>
      <p:grpSp>
        <p:nvGrpSpPr>
          <p:cNvPr id="5" name="object 5"/>
          <p:cNvGrpSpPr/>
          <p:nvPr/>
        </p:nvGrpSpPr>
        <p:grpSpPr>
          <a:xfrm>
            <a:off x="7771387" y="2376379"/>
            <a:ext cx="3773804" cy="2100580"/>
            <a:chOff x="7771387" y="2376379"/>
            <a:chExt cx="3773804" cy="2100580"/>
          </a:xfrm>
        </p:grpSpPr>
        <p:sp>
          <p:nvSpPr>
            <p:cNvPr id="6" name="object 6"/>
            <p:cNvSpPr/>
            <p:nvPr/>
          </p:nvSpPr>
          <p:spPr>
            <a:xfrm>
              <a:off x="7860761" y="2485613"/>
              <a:ext cx="3575050" cy="1966595"/>
            </a:xfrm>
            <a:custGeom>
              <a:avLst/>
              <a:gdLst/>
              <a:ahLst/>
              <a:cxnLst/>
              <a:rect l="l" t="t" r="r" b="b"/>
              <a:pathLst>
                <a:path w="3575050" h="1966595">
                  <a:moveTo>
                    <a:pt x="0" y="1767607"/>
                  </a:moveTo>
                  <a:lnTo>
                    <a:pt x="615683" y="1211506"/>
                  </a:lnTo>
                  <a:lnTo>
                    <a:pt x="1141993" y="1410113"/>
                  </a:lnTo>
                  <a:lnTo>
                    <a:pt x="1668303" y="635544"/>
                  </a:lnTo>
                  <a:lnTo>
                    <a:pt x="2184683" y="953316"/>
                  </a:lnTo>
                  <a:lnTo>
                    <a:pt x="2701063" y="317772"/>
                  </a:lnTo>
                  <a:lnTo>
                    <a:pt x="3574936" y="0"/>
                  </a:lnTo>
                </a:path>
                <a:path w="3575050" h="1966595">
                  <a:moveTo>
                    <a:pt x="397215" y="0"/>
                  </a:moveTo>
                  <a:lnTo>
                    <a:pt x="814291" y="516379"/>
                  </a:lnTo>
                  <a:lnTo>
                    <a:pt x="1668303" y="635544"/>
                  </a:lnTo>
                  <a:lnTo>
                    <a:pt x="1966215" y="1807328"/>
                  </a:lnTo>
                  <a:lnTo>
                    <a:pt x="2979113" y="1588860"/>
                  </a:lnTo>
                  <a:lnTo>
                    <a:pt x="3574936" y="1787468"/>
                  </a:lnTo>
                </a:path>
                <a:path w="3575050" h="1966595">
                  <a:moveTo>
                    <a:pt x="1141993" y="1410113"/>
                  </a:moveTo>
                  <a:lnTo>
                    <a:pt x="814291" y="1966215"/>
                  </a:lnTo>
                  <a:lnTo>
                    <a:pt x="1966215" y="1807328"/>
                  </a:lnTo>
                </a:path>
              </a:pathLst>
            </a:custGeom>
            <a:ln w="49651">
              <a:solidFill>
                <a:srgbClr val="1F293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860761" y="2485613"/>
              <a:ext cx="3575050" cy="1767839"/>
            </a:xfrm>
            <a:custGeom>
              <a:avLst/>
              <a:gdLst/>
              <a:ahLst/>
              <a:cxnLst/>
              <a:rect l="l" t="t" r="r" b="b"/>
              <a:pathLst>
                <a:path w="3575050" h="1767839">
                  <a:moveTo>
                    <a:pt x="0" y="1767607"/>
                  </a:moveTo>
                  <a:lnTo>
                    <a:pt x="615683" y="1211506"/>
                  </a:lnTo>
                  <a:lnTo>
                    <a:pt x="1141993" y="1410113"/>
                  </a:lnTo>
                  <a:lnTo>
                    <a:pt x="1668303" y="635544"/>
                  </a:lnTo>
                  <a:lnTo>
                    <a:pt x="2184683" y="953316"/>
                  </a:lnTo>
                  <a:lnTo>
                    <a:pt x="2701063" y="317772"/>
                  </a:lnTo>
                  <a:lnTo>
                    <a:pt x="3574936" y="0"/>
                  </a:lnTo>
                </a:path>
              </a:pathLst>
            </a:custGeom>
            <a:ln w="69512">
              <a:solidFill>
                <a:srgbClr val="F16A1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71387" y="4163847"/>
              <a:ext cx="178746" cy="17874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13381" y="3806354"/>
              <a:ext cx="178746" cy="17874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7071" y="3607746"/>
              <a:ext cx="178746" cy="17874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56070" y="3349556"/>
              <a:ext cx="178746" cy="17874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39691" y="3031784"/>
              <a:ext cx="178747" cy="17874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26462" y="2376379"/>
              <a:ext cx="218468" cy="21846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72450" y="2714012"/>
              <a:ext cx="178747" cy="178746"/>
            </a:xfrm>
            <a:prstGeom prst="rect">
              <a:avLst/>
            </a:prstGeom>
          </p:spPr>
        </p:pic>
      </p:grpSp>
      <p:sp>
        <p:nvSpPr>
          <p:cNvPr id="4" name="object 4"/>
          <p:cNvSpPr txBox="1"/>
          <p:nvPr/>
        </p:nvSpPr>
        <p:spPr>
          <a:xfrm>
            <a:off x="444500" y="4162488"/>
            <a:ext cx="2179955" cy="739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Author:ADARSH</a:t>
            </a:r>
            <a:r>
              <a:rPr dirty="0" sz="1700" spc="-7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1F2937"/>
                </a:solidFill>
                <a:latin typeface="Trebuchet MS"/>
                <a:cs typeface="Trebuchet MS"/>
              </a:rPr>
              <a:t>AHUJA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250" spc="-20">
                <a:solidFill>
                  <a:srgbClr val="5B6577"/>
                </a:solidFill>
                <a:latin typeface="Trebuchet MS"/>
                <a:cs typeface="Trebuchet MS"/>
              </a:rPr>
              <a:t>Source:</a:t>
            </a:r>
            <a:r>
              <a:rPr dirty="0" sz="1250" spc="-30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MoRTH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/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PIB</a:t>
            </a:r>
            <a:endParaRPr sz="125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342244" y="6343650"/>
            <a:ext cx="1767839" cy="447675"/>
            <a:chOff x="10342244" y="6343650"/>
            <a:chExt cx="1767839" cy="447675"/>
          </a:xfrm>
        </p:grpSpPr>
        <p:pic>
          <p:nvPicPr>
            <p:cNvPr id="16" name="object 16">
              <a:hlinkClick r:id="rId8"/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342244" y="6343650"/>
              <a:ext cx="1754504" cy="419100"/>
            </a:xfrm>
            <a:prstGeom prst="rect">
              <a:avLst/>
            </a:prstGeom>
          </p:spPr>
        </p:pic>
        <p:pic>
          <p:nvPicPr>
            <p:cNvPr id="17" name="object 17">
              <a:hlinkClick r:id="rId8"/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357230" y="6399195"/>
              <a:ext cx="1752600" cy="39202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16169"/>
            <a:ext cx="2049780" cy="288607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250" spc="-10">
                <a:solidFill>
                  <a:srgbClr val="B94A09"/>
                </a:solidFill>
                <a:latin typeface="Courier New"/>
                <a:cs typeface="Courier New"/>
              </a:rPr>
              <a:t>QUESTIONS</a:t>
            </a:r>
            <a:endParaRPr sz="1250">
              <a:latin typeface="Courier New"/>
              <a:cs typeface="Courier New"/>
            </a:endParaRPr>
          </a:p>
          <a:p>
            <a:pPr marL="12700" marR="5080">
              <a:lnSpc>
                <a:spcPts val="4130"/>
              </a:lnSpc>
              <a:spcBef>
                <a:spcPts val="800"/>
              </a:spcBef>
            </a:pPr>
            <a:r>
              <a:rPr dirty="0" sz="3600" spc="-10" b="1">
                <a:solidFill>
                  <a:srgbClr val="1F2937"/>
                </a:solidFill>
                <a:latin typeface="Trebuchet MS"/>
                <a:cs typeface="Trebuchet MS"/>
              </a:rPr>
              <a:t>Three </a:t>
            </a:r>
            <a:r>
              <a:rPr dirty="0" sz="3600" spc="-25" b="1">
                <a:solidFill>
                  <a:srgbClr val="1F2937"/>
                </a:solidFill>
                <a:latin typeface="Trebuchet MS"/>
                <a:cs typeface="Trebuchet MS"/>
              </a:rPr>
              <a:t>questions </a:t>
            </a:r>
            <a:r>
              <a:rPr dirty="0" sz="3600" spc="-130" b="1">
                <a:solidFill>
                  <a:srgbClr val="1F2937"/>
                </a:solidFill>
                <a:latin typeface="Trebuchet MS"/>
                <a:cs typeface="Trebuchet MS"/>
              </a:rPr>
              <a:t>frame</a:t>
            </a:r>
            <a:r>
              <a:rPr dirty="0" sz="3600" spc="-235" b="1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3600" spc="-25" b="1">
                <a:solidFill>
                  <a:srgbClr val="1F2937"/>
                </a:solidFill>
                <a:latin typeface="Trebuchet MS"/>
                <a:cs typeface="Trebuchet MS"/>
              </a:rPr>
              <a:t>the </a:t>
            </a:r>
            <a:r>
              <a:rPr dirty="0" sz="3600" spc="-10" b="1">
                <a:solidFill>
                  <a:srgbClr val="1F2937"/>
                </a:solidFill>
                <a:latin typeface="Trebuchet MS"/>
                <a:cs typeface="Trebuchet MS"/>
              </a:rPr>
              <a:t>analysis</a:t>
            </a:r>
            <a:endParaRPr sz="3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30"/>
              </a:spcBef>
            </a:pPr>
            <a:r>
              <a:rPr dirty="0" sz="1250" spc="-20">
                <a:solidFill>
                  <a:srgbClr val="5B6577"/>
                </a:solidFill>
                <a:latin typeface="Trebuchet MS"/>
                <a:cs typeface="Trebuchet MS"/>
              </a:rPr>
              <a:t>Source:</a:t>
            </a:r>
            <a:r>
              <a:rPr dirty="0" sz="1250" spc="-30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MoRTH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/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PIB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29174" y="457199"/>
            <a:ext cx="276225" cy="276225"/>
          </a:xfrm>
          <a:prstGeom prst="rect">
            <a:avLst/>
          </a:prstGeom>
          <a:solidFill>
            <a:srgbClr val="1F2937"/>
          </a:solidFill>
        </p:spPr>
        <p:txBody>
          <a:bodyPr wrap="square" lIns="0" tIns="31750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250"/>
              </a:spcBef>
            </a:pPr>
            <a:r>
              <a:rPr dirty="0" sz="1250" spc="-25" b="1">
                <a:solidFill>
                  <a:srgbClr val="FFFFFF"/>
                </a:solidFill>
                <a:latin typeface="Trebuchet MS"/>
                <a:cs typeface="Trebuchet MS"/>
              </a:rPr>
              <a:t>01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244951" y="401942"/>
            <a:ext cx="621982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100"/>
              </a:spcBef>
            </a:pPr>
            <a:r>
              <a:rPr dirty="0" sz="1700" b="0">
                <a:latin typeface="Trebuchet MS"/>
                <a:cs typeface="Trebuchet MS"/>
              </a:rPr>
              <a:t>Understand</a:t>
            </a:r>
            <a:r>
              <a:rPr dirty="0" sz="1700" spc="-10" b="0">
                <a:latin typeface="Trebuchet MS"/>
                <a:cs typeface="Trebuchet MS"/>
              </a:rPr>
              <a:t> </a:t>
            </a:r>
            <a:r>
              <a:rPr dirty="0" sz="1700" b="0">
                <a:latin typeface="Trebuchet MS"/>
                <a:cs typeface="Trebuchet MS"/>
              </a:rPr>
              <a:t>the</a:t>
            </a:r>
            <a:r>
              <a:rPr dirty="0" sz="1700" spc="-10" b="0">
                <a:latin typeface="Trebuchet MS"/>
                <a:cs typeface="Trebuchet MS"/>
              </a:rPr>
              <a:t> </a:t>
            </a:r>
            <a:r>
              <a:rPr dirty="0" sz="1700" b="0">
                <a:latin typeface="Trebuchet MS"/>
                <a:cs typeface="Trebuchet MS"/>
              </a:rPr>
              <a:t>reported</a:t>
            </a:r>
            <a:r>
              <a:rPr dirty="0" sz="1700" spc="-10" b="0">
                <a:latin typeface="Trebuchet MS"/>
                <a:cs typeface="Trebuchet MS"/>
              </a:rPr>
              <a:t> </a:t>
            </a:r>
            <a:r>
              <a:rPr dirty="0" sz="1700" b="0">
                <a:latin typeface="Trebuchet MS"/>
                <a:cs typeface="Trebuchet MS"/>
              </a:rPr>
              <a:t>National</a:t>
            </a:r>
            <a:r>
              <a:rPr dirty="0" sz="1700" spc="-10" b="0">
                <a:latin typeface="Trebuchet MS"/>
                <a:cs typeface="Trebuchet MS"/>
              </a:rPr>
              <a:t> </a:t>
            </a:r>
            <a:r>
              <a:rPr dirty="0" sz="1700" b="0">
                <a:latin typeface="Trebuchet MS"/>
                <a:cs typeface="Trebuchet MS"/>
              </a:rPr>
              <a:t>Highway</a:t>
            </a:r>
            <a:r>
              <a:rPr dirty="0" sz="1700" spc="-10" b="0">
                <a:latin typeface="Trebuchet MS"/>
                <a:cs typeface="Trebuchet MS"/>
              </a:rPr>
              <a:t> </a:t>
            </a:r>
            <a:r>
              <a:rPr dirty="0" sz="1700" b="0">
                <a:latin typeface="Trebuchet MS"/>
                <a:cs typeface="Trebuchet MS"/>
              </a:rPr>
              <a:t>accident</a:t>
            </a:r>
            <a:r>
              <a:rPr dirty="0" sz="1700" spc="-10" b="0">
                <a:latin typeface="Trebuchet MS"/>
                <a:cs typeface="Trebuchet MS"/>
              </a:rPr>
              <a:t> </a:t>
            </a:r>
            <a:r>
              <a:rPr dirty="0" sz="1700" b="0">
                <a:latin typeface="Trebuchet MS"/>
                <a:cs typeface="Trebuchet MS"/>
              </a:rPr>
              <a:t>trend</a:t>
            </a:r>
            <a:r>
              <a:rPr dirty="0" sz="1700" spc="-10" b="0">
                <a:latin typeface="Trebuchet MS"/>
                <a:cs typeface="Trebuchet MS"/>
              </a:rPr>
              <a:t> </a:t>
            </a:r>
            <a:r>
              <a:rPr dirty="0" sz="1700" spc="-20" b="0">
                <a:latin typeface="Trebuchet MS"/>
                <a:cs typeface="Trebuchet MS"/>
              </a:rPr>
              <a:t>from </a:t>
            </a:r>
            <a:r>
              <a:rPr dirty="0" sz="1700" spc="55" b="0">
                <a:latin typeface="Trebuchet MS"/>
                <a:cs typeface="Trebuchet MS"/>
              </a:rPr>
              <a:t>2018</a:t>
            </a:r>
            <a:r>
              <a:rPr dirty="0" sz="1700" spc="-75" b="0">
                <a:latin typeface="Trebuchet MS"/>
                <a:cs typeface="Trebuchet MS"/>
              </a:rPr>
              <a:t> </a:t>
            </a:r>
            <a:r>
              <a:rPr dirty="0" sz="1700" b="0">
                <a:latin typeface="Trebuchet MS"/>
                <a:cs typeface="Trebuchet MS"/>
              </a:rPr>
              <a:t>to</a:t>
            </a:r>
            <a:r>
              <a:rPr dirty="0" sz="1700" spc="-70" b="0">
                <a:latin typeface="Trebuchet MS"/>
                <a:cs typeface="Trebuchet MS"/>
              </a:rPr>
              <a:t> </a:t>
            </a:r>
            <a:r>
              <a:rPr dirty="0" sz="1700" spc="35" b="0">
                <a:latin typeface="Trebuchet MS"/>
                <a:cs typeface="Trebuchet MS"/>
              </a:rPr>
              <a:t>2022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829174" y="2309812"/>
            <a:ext cx="6905625" cy="9525"/>
          </a:xfrm>
          <a:custGeom>
            <a:avLst/>
            <a:gdLst/>
            <a:ahLst/>
            <a:cxnLst/>
            <a:rect l="l" t="t" r="r" b="b"/>
            <a:pathLst>
              <a:path w="6905625" h="9525">
                <a:moveTo>
                  <a:pt x="6905624" y="9524"/>
                </a:moveTo>
                <a:lnTo>
                  <a:pt x="0" y="9524"/>
                </a:lnTo>
                <a:lnTo>
                  <a:pt x="0" y="0"/>
                </a:lnTo>
                <a:lnTo>
                  <a:pt x="6905624" y="0"/>
                </a:lnTo>
                <a:lnTo>
                  <a:pt x="6905624" y="9524"/>
                </a:lnTo>
                <a:close/>
              </a:path>
            </a:pathLst>
          </a:custGeom>
          <a:solidFill>
            <a:srgbClr val="CBD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829174" y="2543174"/>
            <a:ext cx="276225" cy="285750"/>
          </a:xfrm>
          <a:prstGeom prst="rect">
            <a:avLst/>
          </a:prstGeom>
          <a:solidFill>
            <a:srgbClr val="1F2937"/>
          </a:solidFill>
        </p:spPr>
        <p:txBody>
          <a:bodyPr wrap="square" lIns="0" tIns="41275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325"/>
              </a:spcBef>
            </a:pPr>
            <a:r>
              <a:rPr dirty="0" sz="1250" spc="-25" b="1">
                <a:solidFill>
                  <a:srgbClr val="FFFFFF"/>
                </a:solidFill>
                <a:latin typeface="Trebuchet MS"/>
                <a:cs typeface="Trebuchet MS"/>
              </a:rPr>
              <a:t>02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44951" y="2487917"/>
            <a:ext cx="615251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100"/>
              </a:spcBef>
            </a:pP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Identify</a:t>
            </a:r>
            <a:r>
              <a:rPr dirty="0" sz="1700" spc="-2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states</a:t>
            </a:r>
            <a:r>
              <a:rPr dirty="0" sz="1700" spc="-2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with</a:t>
            </a:r>
            <a:r>
              <a:rPr dirty="0" sz="1700" spc="-2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higher</a:t>
            </a:r>
            <a:r>
              <a:rPr dirty="0" sz="1700" spc="-2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reported</a:t>
            </a:r>
            <a:r>
              <a:rPr dirty="0" sz="1700" spc="-2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National</a:t>
            </a:r>
            <a:r>
              <a:rPr dirty="0" sz="1700" spc="-2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Highway</a:t>
            </a:r>
            <a:r>
              <a:rPr dirty="0" sz="1700" spc="-2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accident counts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829174" y="4405312"/>
            <a:ext cx="6905625" cy="9525"/>
          </a:xfrm>
          <a:custGeom>
            <a:avLst/>
            <a:gdLst/>
            <a:ahLst/>
            <a:cxnLst/>
            <a:rect l="l" t="t" r="r" b="b"/>
            <a:pathLst>
              <a:path w="6905625" h="9525">
                <a:moveTo>
                  <a:pt x="6905624" y="9524"/>
                </a:moveTo>
                <a:lnTo>
                  <a:pt x="0" y="9524"/>
                </a:lnTo>
                <a:lnTo>
                  <a:pt x="0" y="0"/>
                </a:lnTo>
                <a:lnTo>
                  <a:pt x="6905624" y="0"/>
                </a:lnTo>
                <a:lnTo>
                  <a:pt x="6905624" y="9524"/>
                </a:lnTo>
                <a:close/>
              </a:path>
            </a:pathLst>
          </a:custGeom>
          <a:solidFill>
            <a:srgbClr val="CBD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829174" y="4638674"/>
            <a:ext cx="276225" cy="276225"/>
          </a:xfrm>
          <a:prstGeom prst="rect">
            <a:avLst/>
          </a:prstGeom>
          <a:solidFill>
            <a:srgbClr val="1F2937"/>
          </a:solidFill>
        </p:spPr>
        <p:txBody>
          <a:bodyPr wrap="square" lIns="0" tIns="31750" rIns="0" bIns="0" rtlCol="0" vert="horz">
            <a:spAutoFit/>
          </a:bodyPr>
          <a:lstStyle/>
          <a:p>
            <a:pPr marL="46990">
              <a:lnSpc>
                <a:spcPct val="100000"/>
              </a:lnSpc>
              <a:spcBef>
                <a:spcPts val="250"/>
              </a:spcBef>
            </a:pPr>
            <a:r>
              <a:rPr dirty="0" sz="1250" spc="-25" b="1">
                <a:solidFill>
                  <a:srgbClr val="FFFFFF"/>
                </a:solidFill>
                <a:latin typeface="Trebuchet MS"/>
                <a:cs typeface="Trebuchet MS"/>
              </a:rPr>
              <a:t>03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44951" y="4629213"/>
            <a:ext cx="555561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Compare</a:t>
            </a:r>
            <a:r>
              <a:rPr dirty="0" sz="1700" spc="-1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the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National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Highway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share</a:t>
            </a:r>
            <a:r>
              <a:rPr dirty="0" sz="1700" spc="-1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with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all-road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 totals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13200" y="6172263"/>
            <a:ext cx="631761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5B6577"/>
                </a:solidFill>
                <a:latin typeface="Trebuchet MS"/>
                <a:cs typeface="Trebuchet MS"/>
              </a:rPr>
              <a:t>Interpretation</a:t>
            </a:r>
            <a:r>
              <a:rPr dirty="0" sz="1250" spc="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stays</a:t>
            </a:r>
            <a:r>
              <a:rPr dirty="0" sz="1250" spc="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 spc="-20">
                <a:solidFill>
                  <a:srgbClr val="5B6577"/>
                </a:solidFill>
                <a:latin typeface="Trebuchet MS"/>
                <a:cs typeface="Trebuchet MS"/>
              </a:rPr>
              <a:t>descriptive:</a:t>
            </a:r>
            <a:r>
              <a:rPr dirty="0" sz="1250" spc="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5B6577"/>
                </a:solidFill>
                <a:latin typeface="Trebuchet MS"/>
                <a:cs typeface="Trebuchet MS"/>
              </a:rPr>
              <a:t>aggregated</a:t>
            </a:r>
            <a:r>
              <a:rPr dirty="0" sz="1250" spc="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annual</a:t>
            </a:r>
            <a:r>
              <a:rPr dirty="0" sz="1250" spc="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 spc="-20">
                <a:solidFill>
                  <a:srgbClr val="5B6577"/>
                </a:solidFill>
                <a:latin typeface="Trebuchet MS"/>
                <a:cs typeface="Trebuchet MS"/>
              </a:rPr>
              <a:t>reporting,</a:t>
            </a:r>
            <a:r>
              <a:rPr dirty="0" sz="1250" spc="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not</a:t>
            </a:r>
            <a:r>
              <a:rPr dirty="0" sz="1250" spc="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individual</a:t>
            </a:r>
            <a:r>
              <a:rPr dirty="0" sz="1250" spc="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crash</a:t>
            </a:r>
            <a:r>
              <a:rPr dirty="0" sz="1250" spc="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5B6577"/>
                </a:solidFill>
                <a:latin typeface="Trebuchet MS"/>
                <a:cs typeface="Trebuchet MS"/>
              </a:rPr>
              <a:t>data.</a:t>
            </a:r>
            <a:endParaRPr sz="125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342244" y="6343650"/>
            <a:ext cx="1782445" cy="419100"/>
            <a:chOff x="10342244" y="6343650"/>
            <a:chExt cx="1782445" cy="419100"/>
          </a:xfrm>
        </p:grpSpPr>
        <p:pic>
          <p:nvPicPr>
            <p:cNvPr id="13" name="object 1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2244" y="6343650"/>
              <a:ext cx="1754504" cy="419100"/>
            </a:xfrm>
            <a:prstGeom prst="rect">
              <a:avLst/>
            </a:prstGeom>
          </p:spPr>
        </p:pic>
        <p:pic>
          <p:nvPicPr>
            <p:cNvPr id="14" name="object 14">
              <a:hlinkClick r:id="rId2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71581" y="6364677"/>
              <a:ext cx="1752600" cy="39202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1850488" y="6533764"/>
            <a:ext cx="269240" cy="1930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z="1100" spc="-50">
                <a:solidFill>
                  <a:srgbClr val="1F2937"/>
                </a:solidFill>
                <a:latin typeface="Trebuchet MS"/>
                <a:cs typeface="Trebuchet MS"/>
                <a:hlinkClick r:id="rId2"/>
              </a:rPr>
              <a:t>2</a:t>
            </a:fld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16169"/>
            <a:ext cx="3496945" cy="340995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250" spc="-10">
                <a:solidFill>
                  <a:srgbClr val="B94A09"/>
                </a:solidFill>
                <a:latin typeface="Courier New"/>
                <a:cs typeface="Courier New"/>
              </a:rPr>
              <a:t>DATASET</a:t>
            </a:r>
            <a:endParaRPr sz="1250">
              <a:latin typeface="Courier New"/>
              <a:cs typeface="Courier New"/>
            </a:endParaRPr>
          </a:p>
          <a:p>
            <a:pPr marL="12700" marR="5080">
              <a:lnSpc>
                <a:spcPts val="4130"/>
              </a:lnSpc>
              <a:spcBef>
                <a:spcPts val="800"/>
              </a:spcBef>
            </a:pPr>
            <a:r>
              <a:rPr dirty="0" sz="3600" spc="-185" b="1">
                <a:solidFill>
                  <a:srgbClr val="1F2937"/>
                </a:solidFill>
                <a:latin typeface="Trebuchet MS"/>
                <a:cs typeface="Trebuchet MS"/>
              </a:rPr>
              <a:t>The</a:t>
            </a:r>
            <a:r>
              <a:rPr dirty="0" sz="3600" spc="-260" b="1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3600" spc="-10" b="1">
                <a:solidFill>
                  <a:srgbClr val="1F2937"/>
                </a:solidFill>
                <a:latin typeface="Trebuchet MS"/>
                <a:cs typeface="Trebuchet MS"/>
              </a:rPr>
              <a:t>dataset </a:t>
            </a:r>
            <a:r>
              <a:rPr dirty="0" sz="3600" spc="-65" b="1">
                <a:solidFill>
                  <a:srgbClr val="1F2937"/>
                </a:solidFill>
                <a:latin typeface="Trebuchet MS"/>
                <a:cs typeface="Trebuchet MS"/>
              </a:rPr>
              <a:t>combines</a:t>
            </a:r>
            <a:r>
              <a:rPr dirty="0" sz="3600" spc="-240" b="1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3600" spc="-40" b="1">
                <a:solidFill>
                  <a:srgbClr val="1F2937"/>
                </a:solidFill>
                <a:latin typeface="Trebuchet MS"/>
                <a:cs typeface="Trebuchet MS"/>
              </a:rPr>
              <a:t>annual </a:t>
            </a:r>
            <a:r>
              <a:rPr dirty="0" sz="3600" spc="-35" b="1">
                <a:solidFill>
                  <a:srgbClr val="1F2937"/>
                </a:solidFill>
                <a:latin typeface="Trebuchet MS"/>
                <a:cs typeface="Trebuchet MS"/>
              </a:rPr>
              <a:t>totals</a:t>
            </a:r>
            <a:r>
              <a:rPr dirty="0" sz="3600" spc="-254" b="1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3600" spc="-125" b="1">
                <a:solidFill>
                  <a:srgbClr val="1F2937"/>
                </a:solidFill>
                <a:latin typeface="Trebuchet MS"/>
                <a:cs typeface="Trebuchet MS"/>
              </a:rPr>
              <a:t>with</a:t>
            </a:r>
            <a:r>
              <a:rPr dirty="0" sz="3600" spc="-250" b="1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3600" spc="-50" b="1">
                <a:solidFill>
                  <a:srgbClr val="1F2937"/>
                </a:solidFill>
                <a:latin typeface="Trebuchet MS"/>
                <a:cs typeface="Trebuchet MS"/>
              </a:rPr>
              <a:t>a </a:t>
            </a:r>
            <a:r>
              <a:rPr dirty="0" sz="3600" spc="-60" b="1">
                <a:solidFill>
                  <a:srgbClr val="1F2937"/>
                </a:solidFill>
                <a:latin typeface="Trebuchet MS"/>
                <a:cs typeface="Trebuchet MS"/>
              </a:rPr>
              <a:t>focused</a:t>
            </a:r>
            <a:r>
              <a:rPr dirty="0" sz="3600" spc="-240" b="1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3600" spc="-10" b="1">
                <a:solidFill>
                  <a:srgbClr val="1F2937"/>
                </a:solidFill>
                <a:latin typeface="Trebuchet MS"/>
                <a:cs typeface="Trebuchet MS"/>
              </a:rPr>
              <a:t>highway </a:t>
            </a:r>
            <a:r>
              <a:rPr dirty="0" sz="3600" spc="-20" b="1">
                <a:solidFill>
                  <a:srgbClr val="1F2937"/>
                </a:solidFill>
                <a:latin typeface="Trebuchet MS"/>
                <a:cs typeface="Trebuchet MS"/>
              </a:rPr>
              <a:t>view</a:t>
            </a:r>
            <a:endParaRPr sz="3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25"/>
              </a:spcBef>
            </a:pPr>
            <a:r>
              <a:rPr dirty="0" sz="1250" spc="-20">
                <a:solidFill>
                  <a:srgbClr val="5B6577"/>
                </a:solidFill>
                <a:latin typeface="Trebuchet MS"/>
                <a:cs typeface="Trebuchet MS"/>
              </a:rPr>
              <a:t>Source:</a:t>
            </a:r>
            <a:r>
              <a:rPr dirty="0" sz="1250" spc="-30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MoRTH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/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PIB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595590" y="447738"/>
            <a:ext cx="3594100" cy="2844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b="0">
                <a:latin typeface="Trebuchet MS"/>
                <a:cs typeface="Trebuchet MS"/>
              </a:rPr>
              <a:t>MoRTH</a:t>
            </a:r>
            <a:r>
              <a:rPr dirty="0" sz="1700" spc="30" b="0">
                <a:latin typeface="Trebuchet MS"/>
                <a:cs typeface="Trebuchet MS"/>
              </a:rPr>
              <a:t> </a:t>
            </a:r>
            <a:r>
              <a:rPr dirty="0" sz="1700" b="0">
                <a:latin typeface="Trebuchet MS"/>
                <a:cs typeface="Trebuchet MS"/>
              </a:rPr>
              <a:t>Road</a:t>
            </a:r>
            <a:r>
              <a:rPr dirty="0" sz="1700" spc="30" b="0">
                <a:latin typeface="Trebuchet MS"/>
                <a:cs typeface="Trebuchet MS"/>
              </a:rPr>
              <a:t> </a:t>
            </a:r>
            <a:r>
              <a:rPr dirty="0" sz="1700" b="0">
                <a:latin typeface="Trebuchet MS"/>
                <a:cs typeface="Trebuchet MS"/>
              </a:rPr>
              <a:t>Accidents</a:t>
            </a:r>
            <a:r>
              <a:rPr dirty="0" sz="1700" spc="35" b="0">
                <a:latin typeface="Trebuchet MS"/>
                <a:cs typeface="Trebuchet MS"/>
              </a:rPr>
              <a:t> </a:t>
            </a:r>
            <a:r>
              <a:rPr dirty="0" sz="1700" b="0">
                <a:latin typeface="Trebuchet MS"/>
                <a:cs typeface="Trebuchet MS"/>
              </a:rPr>
              <a:t>in</a:t>
            </a:r>
            <a:r>
              <a:rPr dirty="0" sz="1700" spc="30" b="0">
                <a:latin typeface="Trebuchet MS"/>
                <a:cs typeface="Trebuchet MS"/>
              </a:rPr>
              <a:t> </a:t>
            </a:r>
            <a:r>
              <a:rPr dirty="0" sz="1700" b="0">
                <a:latin typeface="Trebuchet MS"/>
                <a:cs typeface="Trebuchet MS"/>
              </a:rPr>
              <a:t>India</a:t>
            </a:r>
            <a:r>
              <a:rPr dirty="0" sz="1700" spc="30" b="0">
                <a:latin typeface="Trebuchet MS"/>
                <a:cs typeface="Trebuchet MS"/>
              </a:rPr>
              <a:t> </a:t>
            </a:r>
            <a:r>
              <a:rPr dirty="0" sz="1700" spc="35" b="0">
                <a:latin typeface="Trebuchet MS"/>
                <a:cs typeface="Trebuchet MS"/>
              </a:rPr>
              <a:t>2022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610224" y="1109662"/>
            <a:ext cx="6124575" cy="9525"/>
          </a:xfrm>
          <a:custGeom>
            <a:avLst/>
            <a:gdLst/>
            <a:ahLst/>
            <a:cxnLst/>
            <a:rect l="l" t="t" r="r" b="b"/>
            <a:pathLst>
              <a:path w="6124575" h="9525">
                <a:moveTo>
                  <a:pt x="6124574" y="9524"/>
                </a:moveTo>
                <a:lnTo>
                  <a:pt x="0" y="9524"/>
                </a:lnTo>
                <a:lnTo>
                  <a:pt x="0" y="0"/>
                </a:lnTo>
                <a:lnTo>
                  <a:pt x="6124574" y="0"/>
                </a:lnTo>
                <a:lnTo>
                  <a:pt x="6124574" y="9524"/>
                </a:lnTo>
                <a:close/>
              </a:path>
            </a:pathLst>
          </a:custGeom>
          <a:solidFill>
            <a:srgbClr val="CBD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10223" y="5257799"/>
            <a:ext cx="6124575" cy="1143000"/>
          </a:xfrm>
          <a:custGeom>
            <a:avLst/>
            <a:gdLst/>
            <a:ahLst/>
            <a:cxnLst/>
            <a:rect l="l" t="t" r="r" b="b"/>
            <a:pathLst>
              <a:path w="6124575" h="1143000">
                <a:moveTo>
                  <a:pt x="6117678" y="1142999"/>
                </a:moveTo>
                <a:lnTo>
                  <a:pt x="6894" y="1142999"/>
                </a:lnTo>
                <a:lnTo>
                  <a:pt x="4649" y="1142069"/>
                </a:lnTo>
                <a:lnTo>
                  <a:pt x="930" y="1138350"/>
                </a:lnTo>
                <a:lnTo>
                  <a:pt x="0" y="1136104"/>
                </a:lnTo>
                <a:lnTo>
                  <a:pt x="0" y="1133474"/>
                </a:lnTo>
                <a:lnTo>
                  <a:pt x="0" y="6894"/>
                </a:lnTo>
                <a:lnTo>
                  <a:pt x="930" y="4649"/>
                </a:lnTo>
                <a:lnTo>
                  <a:pt x="4649" y="929"/>
                </a:lnTo>
                <a:lnTo>
                  <a:pt x="6894" y="0"/>
                </a:lnTo>
                <a:lnTo>
                  <a:pt x="6117678" y="0"/>
                </a:lnTo>
                <a:lnTo>
                  <a:pt x="6119924" y="929"/>
                </a:lnTo>
                <a:lnTo>
                  <a:pt x="6123643" y="4649"/>
                </a:lnTo>
                <a:lnTo>
                  <a:pt x="6124573" y="6894"/>
                </a:lnTo>
                <a:lnTo>
                  <a:pt x="6124573" y="1136104"/>
                </a:lnTo>
                <a:lnTo>
                  <a:pt x="6123643" y="1138350"/>
                </a:lnTo>
                <a:lnTo>
                  <a:pt x="6119924" y="1142069"/>
                </a:lnTo>
                <a:lnTo>
                  <a:pt x="6117678" y="1142999"/>
                </a:lnTo>
                <a:close/>
              </a:path>
            </a:pathLst>
          </a:custGeom>
          <a:solidFill>
            <a:srgbClr val="FBDE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95590" y="1287767"/>
            <a:ext cx="6015355" cy="4816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100"/>
              </a:spcBef>
            </a:pP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Annual</a:t>
            </a:r>
            <a:r>
              <a:rPr dirty="0" sz="1700" spc="-3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state/UT</a:t>
            </a:r>
            <a:r>
              <a:rPr dirty="0" sz="1700" spc="-3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all-road</a:t>
            </a:r>
            <a:r>
              <a:rPr dirty="0" sz="1700" spc="-3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accidents,</a:t>
            </a:r>
            <a:r>
              <a:rPr dirty="0" sz="1700" spc="-3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1F2937"/>
                </a:solidFill>
                <a:latin typeface="Trebuchet MS"/>
                <a:cs typeface="Trebuchet MS"/>
              </a:rPr>
              <a:t>fatalities,</a:t>
            </a:r>
            <a:r>
              <a:rPr dirty="0" sz="1700" spc="-3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1F2937"/>
                </a:solidFill>
                <a:latin typeface="Trebuchet MS"/>
                <a:cs typeface="Trebuchet MS"/>
              </a:rPr>
              <a:t>and</a:t>
            </a:r>
            <a:r>
              <a:rPr dirty="0" sz="1700" spc="-3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injuries</a:t>
            </a:r>
            <a:r>
              <a:rPr dirty="0" sz="1700" spc="-3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1F2937"/>
                </a:solidFill>
                <a:latin typeface="Trebuchet MS"/>
                <a:cs typeface="Trebuchet MS"/>
              </a:rPr>
              <a:t>for </a:t>
            </a:r>
            <a:r>
              <a:rPr dirty="0" sz="1700" spc="55">
                <a:solidFill>
                  <a:srgbClr val="1F2937"/>
                </a:solidFill>
                <a:latin typeface="Trebuchet MS"/>
                <a:cs typeface="Trebuchet MS"/>
              </a:rPr>
              <a:t>2018-</a:t>
            </a:r>
            <a:r>
              <a:rPr dirty="0" sz="1700" spc="35">
                <a:solidFill>
                  <a:srgbClr val="1F2937"/>
                </a:solidFill>
                <a:latin typeface="Trebuchet MS"/>
                <a:cs typeface="Trebuchet MS"/>
              </a:rPr>
              <a:t>2022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India-wide</a:t>
            </a:r>
            <a:r>
              <a:rPr dirty="0" sz="1700" spc="1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National</a:t>
            </a:r>
            <a:r>
              <a:rPr dirty="0" sz="1700" spc="1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Highway</a:t>
            </a:r>
            <a:r>
              <a:rPr dirty="0" sz="1700" spc="1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accident</a:t>
            </a:r>
            <a:r>
              <a:rPr dirty="0" sz="1700" spc="1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counts</a:t>
            </a:r>
            <a:r>
              <a:rPr dirty="0" sz="1700" spc="1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for</a:t>
            </a:r>
            <a:r>
              <a:rPr dirty="0" sz="1700" spc="1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55">
                <a:solidFill>
                  <a:srgbClr val="1F2937"/>
                </a:solidFill>
                <a:latin typeface="Trebuchet MS"/>
                <a:cs typeface="Trebuchet MS"/>
              </a:rPr>
              <a:t>2018-</a:t>
            </a:r>
            <a:r>
              <a:rPr dirty="0" sz="1700" spc="35">
                <a:solidFill>
                  <a:srgbClr val="1F2937"/>
                </a:solidFill>
                <a:latin typeface="Trebuchet MS"/>
                <a:cs typeface="Trebuchet MS"/>
              </a:rPr>
              <a:t>2022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1700">
              <a:latin typeface="Trebuchet MS"/>
              <a:cs typeface="Trebuchet MS"/>
            </a:endParaRPr>
          </a:p>
          <a:p>
            <a:pPr marL="12700" marR="401955">
              <a:lnSpc>
                <a:spcPct val="117600"/>
              </a:lnSpc>
            </a:pPr>
            <a:r>
              <a:rPr dirty="0" sz="1700" spc="55">
                <a:solidFill>
                  <a:srgbClr val="1F2937"/>
                </a:solidFill>
                <a:latin typeface="Trebuchet MS"/>
                <a:cs typeface="Trebuchet MS"/>
              </a:rPr>
              <a:t>2022</a:t>
            </a:r>
            <a:r>
              <a:rPr dirty="0" sz="1700" spc="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top-</a:t>
            </a:r>
            <a:r>
              <a:rPr dirty="0" sz="1700" spc="55">
                <a:solidFill>
                  <a:srgbClr val="1F2937"/>
                </a:solidFill>
                <a:latin typeface="Trebuchet MS"/>
                <a:cs typeface="Trebuchet MS"/>
              </a:rPr>
              <a:t>10</a:t>
            </a:r>
            <a:r>
              <a:rPr dirty="0" sz="1700" spc="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states'</a:t>
            </a:r>
            <a:r>
              <a:rPr dirty="0" sz="1700" spc="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National</a:t>
            </a:r>
            <a:r>
              <a:rPr dirty="0" sz="1700" spc="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Highway</a:t>
            </a:r>
            <a:r>
              <a:rPr dirty="0" sz="1700" spc="1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accident</a:t>
            </a:r>
            <a:r>
              <a:rPr dirty="0" sz="1700" spc="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counts</a:t>
            </a:r>
            <a:r>
              <a:rPr dirty="0" sz="1700" spc="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1F2937"/>
                </a:solidFill>
                <a:latin typeface="Trebuchet MS"/>
                <a:cs typeface="Trebuchet MS"/>
              </a:rPr>
              <a:t>for </a:t>
            </a:r>
            <a:r>
              <a:rPr dirty="0" sz="1700" spc="55">
                <a:solidFill>
                  <a:srgbClr val="1F2937"/>
                </a:solidFill>
                <a:latin typeface="Trebuchet MS"/>
                <a:cs typeface="Trebuchet MS"/>
              </a:rPr>
              <a:t>2018-</a:t>
            </a:r>
            <a:r>
              <a:rPr dirty="0" sz="1700" spc="35">
                <a:solidFill>
                  <a:srgbClr val="1F2937"/>
                </a:solidFill>
                <a:latin typeface="Trebuchet MS"/>
                <a:cs typeface="Trebuchet MS"/>
              </a:rPr>
              <a:t>2022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National</a:t>
            </a:r>
            <a:r>
              <a:rPr dirty="0" sz="1700" spc="-4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Highway</a:t>
            </a:r>
            <a:r>
              <a:rPr dirty="0" sz="1700" spc="-4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fatalities</a:t>
            </a:r>
            <a:r>
              <a:rPr dirty="0" sz="1700" spc="-4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for</a:t>
            </a:r>
            <a:r>
              <a:rPr dirty="0" sz="1700" spc="-4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35">
                <a:solidFill>
                  <a:srgbClr val="1F2937"/>
                </a:solidFill>
                <a:latin typeface="Trebuchet MS"/>
                <a:cs typeface="Trebuchet MS"/>
              </a:rPr>
              <a:t>2022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700">
              <a:latin typeface="Trebuchet MS"/>
              <a:cs typeface="Trebuchet MS"/>
            </a:endParaRPr>
          </a:p>
          <a:p>
            <a:pPr marL="227965" marR="755650">
              <a:lnSpc>
                <a:spcPct val="117600"/>
              </a:lnSpc>
            </a:pPr>
            <a:r>
              <a:rPr dirty="0" sz="1700">
                <a:latin typeface="Trebuchet MS"/>
                <a:cs typeface="Trebuchet MS"/>
              </a:rPr>
              <a:t>Scope</a:t>
            </a:r>
            <a:r>
              <a:rPr dirty="0" sz="1700" spc="-15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note:</a:t>
            </a:r>
            <a:r>
              <a:rPr dirty="0" sz="1700" spc="-1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the</a:t>
            </a:r>
            <a:r>
              <a:rPr dirty="0" sz="1700" spc="-15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state-</a:t>
            </a:r>
            <a:r>
              <a:rPr dirty="0" sz="1700">
                <a:latin typeface="Trebuchet MS"/>
                <a:cs typeface="Trebuchet MS"/>
              </a:rPr>
              <a:t>level</a:t>
            </a:r>
            <a:r>
              <a:rPr dirty="0" sz="1700" spc="-1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National</a:t>
            </a:r>
            <a:r>
              <a:rPr dirty="0" sz="1700" spc="-1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Highway</a:t>
            </a:r>
            <a:r>
              <a:rPr dirty="0" sz="1700" spc="-15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series </a:t>
            </a:r>
            <a:r>
              <a:rPr dirty="0" sz="1700">
                <a:latin typeface="Trebuchet MS"/>
                <a:cs typeface="Trebuchet MS"/>
              </a:rPr>
              <a:t>covers</a:t>
            </a:r>
            <a:r>
              <a:rPr dirty="0" sz="1700" spc="-4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the</a:t>
            </a:r>
            <a:r>
              <a:rPr dirty="0" sz="1700" spc="-40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report's</a:t>
            </a:r>
            <a:r>
              <a:rPr dirty="0" sz="1700" spc="-40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top</a:t>
            </a:r>
            <a:r>
              <a:rPr dirty="0" sz="1700" spc="-4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ten</a:t>
            </a:r>
            <a:r>
              <a:rPr dirty="0" sz="1700" spc="-40">
                <a:latin typeface="Trebuchet MS"/>
                <a:cs typeface="Trebuchet MS"/>
              </a:rPr>
              <a:t> </a:t>
            </a:r>
            <a:r>
              <a:rPr dirty="0" sz="1700" spc="-35">
                <a:latin typeface="Trebuchet MS"/>
                <a:cs typeface="Trebuchet MS"/>
              </a:rPr>
              <a:t>only,</a:t>
            </a:r>
            <a:r>
              <a:rPr dirty="0" sz="1700" spc="-40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not</a:t>
            </a:r>
            <a:r>
              <a:rPr dirty="0" sz="1700" spc="-45">
                <a:latin typeface="Trebuchet MS"/>
                <a:cs typeface="Trebuchet MS"/>
              </a:rPr>
              <a:t> </a:t>
            </a:r>
            <a:r>
              <a:rPr dirty="0" sz="1700">
                <a:latin typeface="Trebuchet MS"/>
                <a:cs typeface="Trebuchet MS"/>
              </a:rPr>
              <a:t>all</a:t>
            </a:r>
            <a:r>
              <a:rPr dirty="0" sz="1700" spc="-40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states.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610224" y="2300287"/>
            <a:ext cx="6124575" cy="9525"/>
          </a:xfrm>
          <a:custGeom>
            <a:avLst/>
            <a:gdLst/>
            <a:ahLst/>
            <a:cxnLst/>
            <a:rect l="l" t="t" r="r" b="b"/>
            <a:pathLst>
              <a:path w="6124575" h="9525">
                <a:moveTo>
                  <a:pt x="6124574" y="9524"/>
                </a:moveTo>
                <a:lnTo>
                  <a:pt x="0" y="9524"/>
                </a:lnTo>
                <a:lnTo>
                  <a:pt x="0" y="0"/>
                </a:lnTo>
                <a:lnTo>
                  <a:pt x="6124574" y="0"/>
                </a:lnTo>
                <a:lnTo>
                  <a:pt x="6124574" y="9524"/>
                </a:lnTo>
                <a:close/>
              </a:path>
            </a:pathLst>
          </a:custGeom>
          <a:solidFill>
            <a:srgbClr val="CBD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610224" y="3176587"/>
            <a:ext cx="6124575" cy="9525"/>
          </a:xfrm>
          <a:custGeom>
            <a:avLst/>
            <a:gdLst/>
            <a:ahLst/>
            <a:cxnLst/>
            <a:rect l="l" t="t" r="r" b="b"/>
            <a:pathLst>
              <a:path w="6124575" h="9525">
                <a:moveTo>
                  <a:pt x="6124574" y="9524"/>
                </a:moveTo>
                <a:lnTo>
                  <a:pt x="0" y="9524"/>
                </a:lnTo>
                <a:lnTo>
                  <a:pt x="0" y="0"/>
                </a:lnTo>
                <a:lnTo>
                  <a:pt x="6124574" y="0"/>
                </a:lnTo>
                <a:lnTo>
                  <a:pt x="6124574" y="9524"/>
                </a:lnTo>
                <a:close/>
              </a:path>
            </a:pathLst>
          </a:custGeom>
          <a:solidFill>
            <a:srgbClr val="CBD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610224" y="4367212"/>
            <a:ext cx="6124575" cy="9525"/>
          </a:xfrm>
          <a:custGeom>
            <a:avLst/>
            <a:gdLst/>
            <a:ahLst/>
            <a:cxnLst/>
            <a:rect l="l" t="t" r="r" b="b"/>
            <a:pathLst>
              <a:path w="6124575" h="9525">
                <a:moveTo>
                  <a:pt x="6124574" y="9524"/>
                </a:moveTo>
                <a:lnTo>
                  <a:pt x="0" y="9524"/>
                </a:lnTo>
                <a:lnTo>
                  <a:pt x="0" y="0"/>
                </a:lnTo>
                <a:lnTo>
                  <a:pt x="6124574" y="0"/>
                </a:lnTo>
                <a:lnTo>
                  <a:pt x="6124574" y="9524"/>
                </a:lnTo>
                <a:close/>
              </a:path>
            </a:pathLst>
          </a:custGeom>
          <a:solidFill>
            <a:srgbClr val="CBD3D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10324338" y="6343650"/>
            <a:ext cx="1772920" cy="419100"/>
            <a:chOff x="10324338" y="6343650"/>
            <a:chExt cx="1772920" cy="419100"/>
          </a:xfrm>
        </p:grpSpPr>
        <p:pic>
          <p:nvPicPr>
            <p:cNvPr id="11" name="object 11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2245" y="6343650"/>
              <a:ext cx="1754504" cy="419100"/>
            </a:xfrm>
            <a:prstGeom prst="rect">
              <a:avLst/>
            </a:prstGeom>
          </p:spPr>
        </p:pic>
        <p:pic>
          <p:nvPicPr>
            <p:cNvPr id="12" name="object 12">
              <a:hlinkClick r:id="rId2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4338" y="6364677"/>
              <a:ext cx="1752600" cy="392023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1850488" y="6533764"/>
            <a:ext cx="269240" cy="1930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z="1100" spc="-50">
                <a:solidFill>
                  <a:srgbClr val="1F2937"/>
                </a:solidFill>
                <a:latin typeface="Trebuchet MS"/>
                <a:cs typeface="Trebuchet MS"/>
                <a:hlinkClick r:id="rId2"/>
              </a:rPr>
              <a:t>2</a:t>
            </a:fld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8213"/>
            <a:ext cx="80962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10">
                <a:solidFill>
                  <a:srgbClr val="B94A09"/>
                </a:solidFill>
                <a:latin typeface="Courier New"/>
                <a:cs typeface="Courier New"/>
              </a:rPr>
              <a:t>WORKFLOW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692150"/>
            <a:ext cx="78193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15"/>
              <a:t>From</a:t>
            </a:r>
            <a:r>
              <a:rPr dirty="0" spc="-250"/>
              <a:t> </a:t>
            </a:r>
            <a:r>
              <a:rPr dirty="0" spc="-165"/>
              <a:t>raw</a:t>
            </a:r>
            <a:r>
              <a:rPr dirty="0" spc="-245"/>
              <a:t> </a:t>
            </a:r>
            <a:r>
              <a:rPr dirty="0" spc="-125"/>
              <a:t>CSV</a:t>
            </a:r>
            <a:r>
              <a:rPr dirty="0" spc="-245"/>
              <a:t> </a:t>
            </a:r>
            <a:r>
              <a:rPr dirty="0" spc="-55"/>
              <a:t>to</a:t>
            </a:r>
            <a:r>
              <a:rPr dirty="0" spc="-245"/>
              <a:t> </a:t>
            </a:r>
            <a:r>
              <a:rPr dirty="0"/>
              <a:t>a</a:t>
            </a:r>
            <a:r>
              <a:rPr dirty="0" spc="-245"/>
              <a:t> </a:t>
            </a:r>
            <a:r>
              <a:rPr dirty="0" spc="-125"/>
              <a:t>Power</a:t>
            </a:r>
            <a:r>
              <a:rPr dirty="0" spc="-245"/>
              <a:t> </a:t>
            </a:r>
            <a:r>
              <a:rPr dirty="0"/>
              <a:t>BI</a:t>
            </a:r>
            <a:r>
              <a:rPr dirty="0" spc="-245"/>
              <a:t> </a:t>
            </a:r>
            <a:r>
              <a:rPr dirty="0" spc="-10"/>
              <a:t>dashboard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4500" y="1476438"/>
            <a:ext cx="721677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28545" algn="l"/>
                <a:tab pos="4645025" algn="l"/>
                <a:tab pos="6961505" algn="l"/>
              </a:tabLst>
            </a:pPr>
            <a:r>
              <a:rPr dirty="0" sz="1700" spc="-25" b="1">
                <a:solidFill>
                  <a:srgbClr val="1F2937"/>
                </a:solidFill>
                <a:latin typeface="Trebuchet MS"/>
                <a:cs typeface="Trebuchet MS"/>
              </a:rPr>
              <a:t>01</a:t>
            </a:r>
            <a:r>
              <a:rPr dirty="0" sz="1700" b="1">
                <a:solidFill>
                  <a:srgbClr val="1F2937"/>
                </a:solidFill>
                <a:latin typeface="Trebuchet MS"/>
                <a:cs typeface="Trebuchet MS"/>
              </a:rPr>
              <a:t>	</a:t>
            </a:r>
            <a:r>
              <a:rPr dirty="0" sz="1700" spc="-25" b="1">
                <a:solidFill>
                  <a:srgbClr val="1F2937"/>
                </a:solidFill>
                <a:latin typeface="Trebuchet MS"/>
                <a:cs typeface="Trebuchet MS"/>
              </a:rPr>
              <a:t>02</a:t>
            </a:r>
            <a:r>
              <a:rPr dirty="0" sz="1700" b="1">
                <a:solidFill>
                  <a:srgbClr val="1F2937"/>
                </a:solidFill>
                <a:latin typeface="Trebuchet MS"/>
                <a:cs typeface="Trebuchet MS"/>
              </a:rPr>
              <a:t>	</a:t>
            </a:r>
            <a:r>
              <a:rPr dirty="0" sz="1700" spc="-25" b="1">
                <a:solidFill>
                  <a:srgbClr val="1F2937"/>
                </a:solidFill>
                <a:latin typeface="Trebuchet MS"/>
                <a:cs typeface="Trebuchet MS"/>
              </a:rPr>
              <a:t>03</a:t>
            </a:r>
            <a:r>
              <a:rPr dirty="0" sz="1700" b="1">
                <a:solidFill>
                  <a:srgbClr val="1F2937"/>
                </a:solidFill>
                <a:latin typeface="Trebuchet MS"/>
                <a:cs typeface="Trebuchet MS"/>
              </a:rPr>
              <a:t>	</a:t>
            </a:r>
            <a:r>
              <a:rPr dirty="0" sz="1700" spc="-25" b="1">
                <a:solidFill>
                  <a:srgbClr val="1F2937"/>
                </a:solidFill>
                <a:latin typeface="Trebuchet MS"/>
                <a:cs typeface="Trebuchet MS"/>
              </a:rPr>
              <a:t>04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710390" y="1476438"/>
            <a:ext cx="26733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5" b="1">
                <a:solidFill>
                  <a:srgbClr val="1F2937"/>
                </a:solidFill>
                <a:latin typeface="Trebuchet MS"/>
                <a:cs typeface="Trebuchet MS"/>
              </a:rPr>
              <a:t>05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57199" y="1828799"/>
            <a:ext cx="2009775" cy="19050"/>
          </a:xfrm>
          <a:custGeom>
            <a:avLst/>
            <a:gdLst/>
            <a:ahLst/>
            <a:cxnLst/>
            <a:rect l="l" t="t" r="r" b="b"/>
            <a:pathLst>
              <a:path w="2009775" h="19050">
                <a:moveTo>
                  <a:pt x="2009774" y="19049"/>
                </a:moveTo>
                <a:lnTo>
                  <a:pt x="0" y="19049"/>
                </a:lnTo>
                <a:lnTo>
                  <a:pt x="0" y="0"/>
                </a:lnTo>
                <a:lnTo>
                  <a:pt x="2009774" y="0"/>
                </a:lnTo>
                <a:lnTo>
                  <a:pt x="2009774" y="19049"/>
                </a:lnTo>
                <a:close/>
              </a:path>
            </a:pathLst>
          </a:custGeom>
          <a:solidFill>
            <a:srgbClr val="F16A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771774" y="1828799"/>
            <a:ext cx="2009775" cy="19050"/>
          </a:xfrm>
          <a:custGeom>
            <a:avLst/>
            <a:gdLst/>
            <a:ahLst/>
            <a:cxnLst/>
            <a:rect l="l" t="t" r="r" b="b"/>
            <a:pathLst>
              <a:path w="2009775" h="19050">
                <a:moveTo>
                  <a:pt x="2009774" y="19049"/>
                </a:moveTo>
                <a:lnTo>
                  <a:pt x="0" y="19049"/>
                </a:lnTo>
                <a:lnTo>
                  <a:pt x="0" y="0"/>
                </a:lnTo>
                <a:lnTo>
                  <a:pt x="2009774" y="0"/>
                </a:lnTo>
                <a:lnTo>
                  <a:pt x="2009774" y="19049"/>
                </a:lnTo>
                <a:close/>
              </a:path>
            </a:pathLst>
          </a:custGeom>
          <a:solidFill>
            <a:srgbClr val="F16A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086349" y="1828799"/>
            <a:ext cx="2019300" cy="19050"/>
          </a:xfrm>
          <a:custGeom>
            <a:avLst/>
            <a:gdLst/>
            <a:ahLst/>
            <a:cxnLst/>
            <a:rect l="l" t="t" r="r" b="b"/>
            <a:pathLst>
              <a:path w="2019300" h="19050">
                <a:moveTo>
                  <a:pt x="2019299" y="19049"/>
                </a:moveTo>
                <a:lnTo>
                  <a:pt x="0" y="19049"/>
                </a:lnTo>
                <a:lnTo>
                  <a:pt x="0" y="0"/>
                </a:lnTo>
                <a:lnTo>
                  <a:pt x="2019299" y="0"/>
                </a:lnTo>
                <a:lnTo>
                  <a:pt x="2019299" y="19049"/>
                </a:lnTo>
                <a:close/>
              </a:path>
            </a:pathLst>
          </a:custGeom>
          <a:solidFill>
            <a:srgbClr val="F16A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410449" y="1828799"/>
            <a:ext cx="2009775" cy="19050"/>
          </a:xfrm>
          <a:custGeom>
            <a:avLst/>
            <a:gdLst/>
            <a:ahLst/>
            <a:cxnLst/>
            <a:rect l="l" t="t" r="r" b="b"/>
            <a:pathLst>
              <a:path w="2009775" h="19050">
                <a:moveTo>
                  <a:pt x="2009774" y="19049"/>
                </a:moveTo>
                <a:lnTo>
                  <a:pt x="0" y="19049"/>
                </a:lnTo>
                <a:lnTo>
                  <a:pt x="0" y="0"/>
                </a:lnTo>
                <a:lnTo>
                  <a:pt x="2009774" y="0"/>
                </a:lnTo>
                <a:lnTo>
                  <a:pt x="2009774" y="19049"/>
                </a:lnTo>
                <a:close/>
              </a:path>
            </a:pathLst>
          </a:custGeom>
          <a:solidFill>
            <a:srgbClr val="F16A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725024" y="1828799"/>
            <a:ext cx="2009775" cy="19050"/>
          </a:xfrm>
          <a:custGeom>
            <a:avLst/>
            <a:gdLst/>
            <a:ahLst/>
            <a:cxnLst/>
            <a:rect l="l" t="t" r="r" b="b"/>
            <a:pathLst>
              <a:path w="2009775" h="19050">
                <a:moveTo>
                  <a:pt x="2009774" y="19049"/>
                </a:moveTo>
                <a:lnTo>
                  <a:pt x="0" y="19049"/>
                </a:lnTo>
                <a:lnTo>
                  <a:pt x="0" y="0"/>
                </a:lnTo>
                <a:lnTo>
                  <a:pt x="2009774" y="0"/>
                </a:lnTo>
                <a:lnTo>
                  <a:pt x="2009774" y="19049"/>
                </a:lnTo>
                <a:close/>
              </a:path>
            </a:pathLst>
          </a:custGeom>
          <a:solidFill>
            <a:srgbClr val="F16A1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44500" y="1958975"/>
            <a:ext cx="953769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>
                <a:solidFill>
                  <a:srgbClr val="1F2937"/>
                </a:solidFill>
                <a:latin typeface="Trebuchet MS"/>
                <a:cs typeface="Trebuchet MS"/>
              </a:rPr>
              <a:t>Raw</a:t>
            </a:r>
            <a:r>
              <a:rPr dirty="0" sz="1950" spc="-10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950" spc="-25">
                <a:solidFill>
                  <a:srgbClr val="1F2937"/>
                </a:solidFill>
                <a:latin typeface="Trebuchet MS"/>
                <a:cs typeface="Trebuchet MS"/>
              </a:rPr>
              <a:t>CSV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60860" y="1932304"/>
            <a:ext cx="1750695" cy="13112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 marR="5080">
              <a:lnSpc>
                <a:spcPct val="107900"/>
              </a:lnSpc>
              <a:spcBef>
                <a:spcPts val="125"/>
              </a:spcBef>
            </a:pPr>
            <a:r>
              <a:rPr dirty="0" sz="1950" spc="-10">
                <a:solidFill>
                  <a:srgbClr val="1F2937"/>
                </a:solidFill>
                <a:latin typeface="Trebuchet MS"/>
                <a:cs typeface="Trebuchet MS"/>
              </a:rPr>
              <a:t>Python Pandas/NumPy </a:t>
            </a:r>
            <a:r>
              <a:rPr dirty="0" sz="1950">
                <a:solidFill>
                  <a:srgbClr val="1F2937"/>
                </a:solidFill>
                <a:latin typeface="Trebuchet MS"/>
                <a:cs typeface="Trebuchet MS"/>
              </a:rPr>
              <a:t>cleaning</a:t>
            </a:r>
            <a:r>
              <a:rPr dirty="0" sz="1950" spc="6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950" spc="35">
                <a:solidFill>
                  <a:srgbClr val="1F2937"/>
                </a:solidFill>
                <a:latin typeface="Trebuchet MS"/>
                <a:cs typeface="Trebuchet MS"/>
              </a:rPr>
              <a:t>and </a:t>
            </a:r>
            <a:r>
              <a:rPr dirty="0" sz="1950" spc="-10">
                <a:solidFill>
                  <a:srgbClr val="1F2937"/>
                </a:solidFill>
                <a:latin typeface="Trebuchet MS"/>
                <a:cs typeface="Trebuchet MS"/>
              </a:rPr>
              <a:t>validation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77370" y="1932304"/>
            <a:ext cx="1941195" cy="987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000"/>
              </a:lnSpc>
              <a:spcBef>
                <a:spcPts val="100"/>
              </a:spcBef>
            </a:pPr>
            <a:r>
              <a:rPr dirty="0" sz="1950">
                <a:solidFill>
                  <a:srgbClr val="1F2937"/>
                </a:solidFill>
                <a:latin typeface="Trebuchet MS"/>
                <a:cs typeface="Trebuchet MS"/>
              </a:rPr>
              <a:t>SQL</a:t>
            </a:r>
            <a:r>
              <a:rPr dirty="0" sz="1950" spc="-1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950" spc="-20">
                <a:solidFill>
                  <a:srgbClr val="1F2937"/>
                </a:solidFill>
                <a:latin typeface="Trebuchet MS"/>
                <a:cs typeface="Trebuchet MS"/>
              </a:rPr>
              <a:t>tables,</a:t>
            </a:r>
            <a:r>
              <a:rPr dirty="0" sz="1950" spc="-1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950" spc="-25">
                <a:solidFill>
                  <a:srgbClr val="1F2937"/>
                </a:solidFill>
                <a:latin typeface="Trebuchet MS"/>
                <a:cs typeface="Trebuchet MS"/>
              </a:rPr>
              <a:t>joins, </a:t>
            </a:r>
            <a:r>
              <a:rPr dirty="0" sz="1950">
                <a:solidFill>
                  <a:srgbClr val="1F2937"/>
                </a:solidFill>
                <a:latin typeface="Trebuchet MS"/>
                <a:cs typeface="Trebuchet MS"/>
              </a:rPr>
              <a:t>GROUP</a:t>
            </a:r>
            <a:r>
              <a:rPr dirty="0" sz="1950" spc="-5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950" spc="-155">
                <a:solidFill>
                  <a:srgbClr val="1F2937"/>
                </a:solidFill>
                <a:latin typeface="Trebuchet MS"/>
                <a:cs typeface="Trebuchet MS"/>
              </a:rPr>
              <a:t>BY,</a:t>
            </a:r>
            <a:r>
              <a:rPr dirty="0" sz="1950" spc="-5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950" spc="-20">
                <a:solidFill>
                  <a:srgbClr val="1F2937"/>
                </a:solidFill>
                <a:latin typeface="Trebuchet MS"/>
                <a:cs typeface="Trebuchet MS"/>
              </a:rPr>
              <a:t>CASE,</a:t>
            </a:r>
            <a:endParaRPr sz="1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950" spc="60">
                <a:solidFill>
                  <a:srgbClr val="1F2937"/>
                </a:solidFill>
                <a:latin typeface="Trebuchet MS"/>
                <a:cs typeface="Trebuchet MS"/>
              </a:rPr>
              <a:t>and</a:t>
            </a:r>
            <a:r>
              <a:rPr dirty="0" sz="1950" spc="-7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950" spc="35">
                <a:solidFill>
                  <a:srgbClr val="1F2937"/>
                </a:solidFill>
                <a:latin typeface="Trebuchet MS"/>
                <a:cs typeface="Trebuchet MS"/>
              </a:rPr>
              <a:t>KPIs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393880" y="1932304"/>
            <a:ext cx="178244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000"/>
              </a:lnSpc>
              <a:spcBef>
                <a:spcPts val="100"/>
              </a:spcBef>
            </a:pPr>
            <a:r>
              <a:rPr dirty="0" sz="1950">
                <a:solidFill>
                  <a:srgbClr val="1F2937"/>
                </a:solidFill>
                <a:latin typeface="Trebuchet MS"/>
                <a:cs typeface="Trebuchet MS"/>
              </a:rPr>
              <a:t>Power</a:t>
            </a:r>
            <a:r>
              <a:rPr dirty="0" sz="1950" spc="-8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950" spc="55">
                <a:solidFill>
                  <a:srgbClr val="1F2937"/>
                </a:solidFill>
                <a:latin typeface="Trebuchet MS"/>
                <a:cs typeface="Trebuchet MS"/>
              </a:rPr>
              <a:t>BI</a:t>
            </a:r>
            <a:r>
              <a:rPr dirty="0" sz="1950" spc="-7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950" spc="-10">
                <a:solidFill>
                  <a:srgbClr val="1F2937"/>
                </a:solidFill>
                <a:latin typeface="Trebuchet MS"/>
                <a:cs typeface="Trebuchet MS"/>
              </a:rPr>
              <a:t>model </a:t>
            </a:r>
            <a:r>
              <a:rPr dirty="0" sz="1950" spc="60">
                <a:solidFill>
                  <a:srgbClr val="1F2937"/>
                </a:solidFill>
                <a:latin typeface="Trebuchet MS"/>
                <a:cs typeface="Trebuchet MS"/>
              </a:rPr>
              <a:t>and</a:t>
            </a:r>
            <a:r>
              <a:rPr dirty="0" sz="1950" spc="-7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950" spc="-25">
                <a:solidFill>
                  <a:srgbClr val="1F2937"/>
                </a:solidFill>
                <a:latin typeface="Trebuchet MS"/>
                <a:cs typeface="Trebuchet MS"/>
              </a:rPr>
              <a:t>DAX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10390" y="1958975"/>
            <a:ext cx="1235710" cy="322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50" spc="-10">
                <a:solidFill>
                  <a:srgbClr val="1F2937"/>
                </a:solidFill>
                <a:latin typeface="Trebuchet MS"/>
                <a:cs typeface="Trebuchet MS"/>
              </a:rPr>
              <a:t>Dashboard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4500" y="3486213"/>
            <a:ext cx="7019290" cy="739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72865" algn="l"/>
              </a:tabLst>
            </a:pPr>
            <a:r>
              <a:rPr dirty="0" sz="1700" spc="-10" b="1">
                <a:solidFill>
                  <a:srgbClr val="1F2937"/>
                </a:solidFill>
                <a:latin typeface="Trebuchet MS"/>
                <a:cs typeface="Trebuchet MS"/>
              </a:rPr>
              <a:t>Handle</a:t>
            </a:r>
            <a:r>
              <a:rPr dirty="0" sz="1700" spc="-70" b="1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Trebuchet MS"/>
                <a:cs typeface="Trebuchet MS"/>
              </a:rPr>
              <a:t>missing</a:t>
            </a:r>
            <a:r>
              <a:rPr dirty="0" sz="1700" spc="-70" b="1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0" b="1">
                <a:solidFill>
                  <a:srgbClr val="1F2937"/>
                </a:solidFill>
                <a:latin typeface="Trebuchet MS"/>
                <a:cs typeface="Trebuchet MS"/>
              </a:rPr>
              <a:t>values</a:t>
            </a:r>
            <a:r>
              <a:rPr dirty="0" sz="1700" spc="-65" b="1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Trebuchet MS"/>
                <a:cs typeface="Trebuchet MS"/>
              </a:rPr>
              <a:t>explicitly</a:t>
            </a:r>
            <a:r>
              <a:rPr dirty="0" sz="1700" b="1">
                <a:solidFill>
                  <a:srgbClr val="1F2937"/>
                </a:solidFill>
                <a:latin typeface="Trebuchet MS"/>
                <a:cs typeface="Trebuchet MS"/>
              </a:rPr>
              <a:t>	</a:t>
            </a:r>
            <a:r>
              <a:rPr dirty="0" sz="1700" spc="-50" b="1">
                <a:solidFill>
                  <a:srgbClr val="1F2937"/>
                </a:solidFill>
                <a:latin typeface="Trebuchet MS"/>
                <a:cs typeface="Trebuchet MS"/>
              </a:rPr>
              <a:t>Check</a:t>
            </a:r>
            <a:r>
              <a:rPr dirty="0" sz="1700" spc="-75" b="1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5" b="1">
                <a:solidFill>
                  <a:srgbClr val="1F2937"/>
                </a:solidFill>
                <a:latin typeface="Trebuchet MS"/>
                <a:cs typeface="Trebuchet MS"/>
              </a:rPr>
              <a:t>duplicate</a:t>
            </a:r>
            <a:r>
              <a:rPr dirty="0" sz="1700" spc="-75" b="1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Trebuchet MS"/>
                <a:cs typeface="Trebuchet MS"/>
              </a:rPr>
              <a:t>state-</a:t>
            </a:r>
            <a:r>
              <a:rPr dirty="0" sz="1700" spc="-35" b="1">
                <a:solidFill>
                  <a:srgbClr val="1F2937"/>
                </a:solidFill>
                <a:latin typeface="Trebuchet MS"/>
                <a:cs typeface="Trebuchet MS"/>
              </a:rPr>
              <a:t>year</a:t>
            </a:r>
            <a:r>
              <a:rPr dirty="0" sz="1700" spc="-75" b="1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0" b="1">
                <a:solidFill>
                  <a:srgbClr val="1F2937"/>
                </a:solidFill>
                <a:latin typeface="Trebuchet MS"/>
                <a:cs typeface="Trebuchet MS"/>
              </a:rPr>
              <a:t>keys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250" spc="-20">
                <a:solidFill>
                  <a:srgbClr val="5B6577"/>
                </a:solidFill>
                <a:latin typeface="Trebuchet MS"/>
                <a:cs typeface="Trebuchet MS"/>
              </a:rPr>
              <a:t>Source:</a:t>
            </a:r>
            <a:r>
              <a:rPr dirty="0" sz="1250" spc="-30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MoRTH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/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PIB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66000" y="3486213"/>
            <a:ext cx="2402205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-20" b="1">
                <a:solidFill>
                  <a:srgbClr val="1F2937"/>
                </a:solidFill>
                <a:latin typeface="Trebuchet MS"/>
                <a:cs typeface="Trebuchet MS"/>
              </a:rPr>
              <a:t>Null</a:t>
            </a:r>
            <a:r>
              <a:rPr dirty="0" sz="1700" spc="-80" b="1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b="1">
                <a:solidFill>
                  <a:srgbClr val="1F2937"/>
                </a:solidFill>
                <a:latin typeface="Trebuchet MS"/>
                <a:cs typeface="Trebuchet MS"/>
              </a:rPr>
              <a:t>does</a:t>
            </a:r>
            <a:r>
              <a:rPr dirty="0" sz="1700" spc="-80" b="1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 b="1">
                <a:solidFill>
                  <a:srgbClr val="1F2937"/>
                </a:solidFill>
                <a:latin typeface="Trebuchet MS"/>
                <a:cs typeface="Trebuchet MS"/>
              </a:rPr>
              <a:t>not</a:t>
            </a:r>
            <a:r>
              <a:rPr dirty="0" sz="1700" spc="-75" b="1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5" b="1">
                <a:solidFill>
                  <a:srgbClr val="1F2937"/>
                </a:solidFill>
                <a:latin typeface="Trebuchet MS"/>
                <a:cs typeface="Trebuchet MS"/>
              </a:rPr>
              <a:t>mean</a:t>
            </a:r>
            <a:r>
              <a:rPr dirty="0" sz="1700" spc="-80" b="1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30" b="1">
                <a:solidFill>
                  <a:srgbClr val="1F2937"/>
                </a:solidFill>
                <a:latin typeface="Trebuchet MS"/>
                <a:cs typeface="Trebuchet MS"/>
              </a:rPr>
              <a:t>zero</a:t>
            </a:r>
            <a:endParaRPr sz="17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324338" y="6329222"/>
            <a:ext cx="1772920" cy="433705"/>
            <a:chOff x="10324338" y="6329222"/>
            <a:chExt cx="1772920" cy="433705"/>
          </a:xfrm>
        </p:grpSpPr>
        <p:pic>
          <p:nvPicPr>
            <p:cNvPr id="19" name="object 19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2245" y="6343650"/>
              <a:ext cx="1754504" cy="419100"/>
            </a:xfrm>
            <a:prstGeom prst="rect">
              <a:avLst/>
            </a:prstGeom>
          </p:spPr>
        </p:pic>
        <p:pic>
          <p:nvPicPr>
            <p:cNvPr id="20" name="object 20">
              <a:hlinkClick r:id="rId2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24338" y="6329222"/>
              <a:ext cx="1752600" cy="392023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1850488" y="6533764"/>
            <a:ext cx="269240" cy="1930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z="1100" spc="-50">
                <a:solidFill>
                  <a:srgbClr val="1F2937"/>
                </a:solidFill>
                <a:latin typeface="Trebuchet MS"/>
                <a:cs typeface="Trebuchet MS"/>
                <a:hlinkClick r:id="rId2"/>
              </a:rPr>
              <a:t>2</a:t>
            </a:fld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8213"/>
            <a:ext cx="1694814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B94A09"/>
                </a:solidFill>
                <a:latin typeface="Courier New"/>
                <a:cs typeface="Courier New"/>
              </a:rPr>
              <a:t>NATIONAL</a:t>
            </a:r>
            <a:r>
              <a:rPr dirty="0" sz="1250" spc="185">
                <a:solidFill>
                  <a:srgbClr val="B94A09"/>
                </a:solidFill>
                <a:latin typeface="Courier New"/>
                <a:cs typeface="Courier New"/>
              </a:rPr>
              <a:t> </a:t>
            </a:r>
            <a:r>
              <a:rPr dirty="0" sz="1250" spc="-10">
                <a:solidFill>
                  <a:srgbClr val="B94A09"/>
                </a:solidFill>
                <a:latin typeface="Courier New"/>
                <a:cs typeface="Courier New"/>
              </a:rPr>
              <a:t>HIGHWAYS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894" rIns="0" bIns="0" rtlCol="0" vert="horz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384"/>
              </a:spcBef>
            </a:pPr>
            <a:r>
              <a:rPr dirty="0" spc="-50"/>
              <a:t>National</a:t>
            </a:r>
            <a:r>
              <a:rPr dirty="0" spc="-229"/>
              <a:t> </a:t>
            </a:r>
            <a:r>
              <a:rPr dirty="0" spc="-95"/>
              <a:t>Highway</a:t>
            </a:r>
            <a:r>
              <a:rPr dirty="0" spc="-229"/>
              <a:t> </a:t>
            </a:r>
            <a:r>
              <a:rPr dirty="0" spc="-50"/>
              <a:t>accidents </a:t>
            </a:r>
            <a:r>
              <a:rPr dirty="0" spc="-80"/>
              <a:t>rebounded</a:t>
            </a:r>
            <a:r>
              <a:rPr dirty="0" spc="-235"/>
              <a:t> </a:t>
            </a:r>
            <a:r>
              <a:rPr dirty="0" spc="-50"/>
              <a:t>sharply</a:t>
            </a:r>
            <a:r>
              <a:rPr dirty="0" spc="-235"/>
              <a:t> </a:t>
            </a:r>
            <a:r>
              <a:rPr dirty="0" spc="-80"/>
              <a:t>in</a:t>
            </a:r>
            <a:r>
              <a:rPr dirty="0" spc="-229"/>
              <a:t> </a:t>
            </a:r>
            <a:r>
              <a:rPr dirty="0" spc="-20"/>
              <a:t>2022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34913" y="2269885"/>
            <a:ext cx="850265" cy="252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10">
                <a:solidFill>
                  <a:srgbClr val="1F2937"/>
                </a:solidFill>
                <a:latin typeface="Trebuchet MS"/>
                <a:cs typeface="Trebuchet MS"/>
              </a:rPr>
              <a:t>Accidents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2538" y="2959565"/>
            <a:ext cx="6115050" cy="1543050"/>
            <a:chOff x="592538" y="2959565"/>
            <a:chExt cx="6115050" cy="1543050"/>
          </a:xfrm>
        </p:grpSpPr>
        <p:sp>
          <p:nvSpPr>
            <p:cNvPr id="5" name="object 5"/>
            <p:cNvSpPr/>
            <p:nvPr/>
          </p:nvSpPr>
          <p:spPr>
            <a:xfrm>
              <a:off x="598571" y="4496380"/>
              <a:ext cx="6102985" cy="0"/>
            </a:xfrm>
            <a:custGeom>
              <a:avLst/>
              <a:gdLst/>
              <a:ahLst/>
              <a:cxnLst/>
              <a:rect l="l" t="t" r="r" b="b"/>
              <a:pathLst>
                <a:path w="6102984" h="0">
                  <a:moveTo>
                    <a:pt x="6102517" y="0"/>
                  </a:moveTo>
                  <a:lnTo>
                    <a:pt x="0" y="0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98571" y="3730989"/>
              <a:ext cx="6102985" cy="0"/>
            </a:xfrm>
            <a:custGeom>
              <a:avLst/>
              <a:gdLst/>
              <a:ahLst/>
              <a:cxnLst/>
              <a:rect l="l" t="t" r="r" b="b"/>
              <a:pathLst>
                <a:path w="6102984" h="0">
                  <a:moveTo>
                    <a:pt x="6102517" y="0"/>
                  </a:moveTo>
                  <a:lnTo>
                    <a:pt x="0" y="0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98571" y="2965597"/>
              <a:ext cx="6102985" cy="0"/>
            </a:xfrm>
            <a:custGeom>
              <a:avLst/>
              <a:gdLst/>
              <a:ahLst/>
              <a:cxnLst/>
              <a:rect l="l" t="t" r="r" b="b"/>
              <a:pathLst>
                <a:path w="6102984" h="0">
                  <a:moveTo>
                    <a:pt x="6102517" y="0"/>
                  </a:moveTo>
                  <a:lnTo>
                    <a:pt x="0" y="0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875280" y="2523744"/>
            <a:ext cx="5549265" cy="2850515"/>
            <a:chOff x="875280" y="2523744"/>
            <a:chExt cx="5549265" cy="2850515"/>
          </a:xfrm>
        </p:grpSpPr>
        <p:sp>
          <p:nvSpPr>
            <p:cNvPr id="13" name="object 13"/>
            <p:cNvSpPr/>
            <p:nvPr/>
          </p:nvSpPr>
          <p:spPr>
            <a:xfrm>
              <a:off x="881313" y="2529777"/>
              <a:ext cx="0" cy="2732405"/>
            </a:xfrm>
            <a:custGeom>
              <a:avLst/>
              <a:gdLst/>
              <a:ahLst/>
              <a:cxnLst/>
              <a:rect l="l" t="t" r="r" b="b"/>
              <a:pathLst>
                <a:path w="0" h="2732404">
                  <a:moveTo>
                    <a:pt x="0" y="2731995"/>
                  </a:moveTo>
                  <a:lnTo>
                    <a:pt x="0" y="0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264623" y="2529777"/>
              <a:ext cx="0" cy="2732405"/>
            </a:xfrm>
            <a:custGeom>
              <a:avLst/>
              <a:gdLst/>
              <a:ahLst/>
              <a:cxnLst/>
              <a:rect l="l" t="t" r="r" b="b"/>
              <a:pathLst>
                <a:path w="0" h="2732404">
                  <a:moveTo>
                    <a:pt x="0" y="2731995"/>
                  </a:moveTo>
                  <a:lnTo>
                    <a:pt x="0" y="0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647934" y="2529777"/>
              <a:ext cx="0" cy="2732405"/>
            </a:xfrm>
            <a:custGeom>
              <a:avLst/>
              <a:gdLst/>
              <a:ahLst/>
              <a:cxnLst/>
              <a:rect l="l" t="t" r="r" b="b"/>
              <a:pathLst>
                <a:path w="0" h="2732404">
                  <a:moveTo>
                    <a:pt x="0" y="2731995"/>
                  </a:moveTo>
                  <a:lnTo>
                    <a:pt x="0" y="0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035035" y="2529777"/>
              <a:ext cx="0" cy="2732405"/>
            </a:xfrm>
            <a:custGeom>
              <a:avLst/>
              <a:gdLst/>
              <a:ahLst/>
              <a:cxnLst/>
              <a:rect l="l" t="t" r="r" b="b"/>
              <a:pathLst>
                <a:path w="0" h="2732404">
                  <a:moveTo>
                    <a:pt x="0" y="2731995"/>
                  </a:moveTo>
                  <a:lnTo>
                    <a:pt x="0" y="0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418346" y="2529777"/>
              <a:ext cx="0" cy="2732405"/>
            </a:xfrm>
            <a:custGeom>
              <a:avLst/>
              <a:gdLst/>
              <a:ahLst/>
              <a:cxnLst/>
              <a:rect l="l" t="t" r="r" b="b"/>
              <a:pathLst>
                <a:path w="0" h="2732404">
                  <a:moveTo>
                    <a:pt x="0" y="2731995"/>
                  </a:moveTo>
                  <a:lnTo>
                    <a:pt x="0" y="0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81313" y="5261772"/>
              <a:ext cx="0" cy="106045"/>
            </a:xfrm>
            <a:custGeom>
              <a:avLst/>
              <a:gdLst/>
              <a:ahLst/>
              <a:cxnLst/>
              <a:rect l="l" t="t" r="r" b="b"/>
              <a:pathLst>
                <a:path w="0" h="106045">
                  <a:moveTo>
                    <a:pt x="0" y="0"/>
                  </a:moveTo>
                  <a:lnTo>
                    <a:pt x="0" y="106028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759074" y="2826405"/>
            <a:ext cx="416559" cy="252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20">
                <a:solidFill>
                  <a:srgbClr val="1F2937"/>
                </a:solidFill>
                <a:latin typeface="Trebuchet MS"/>
                <a:cs typeface="Trebuchet MS"/>
              </a:rPr>
              <a:t>150k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59074" y="3591797"/>
            <a:ext cx="426720" cy="252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20">
                <a:solidFill>
                  <a:srgbClr val="1F2937"/>
                </a:solidFill>
                <a:latin typeface="Trebuchet MS"/>
                <a:cs typeface="Trebuchet MS"/>
              </a:rPr>
              <a:t>100k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264623" y="5261772"/>
            <a:ext cx="0" cy="106045"/>
          </a:xfrm>
          <a:custGeom>
            <a:avLst/>
            <a:gdLst/>
            <a:ahLst/>
            <a:cxnLst/>
            <a:rect l="l" t="t" r="r" b="b"/>
            <a:pathLst>
              <a:path w="0" h="106045">
                <a:moveTo>
                  <a:pt x="0" y="0"/>
                </a:moveTo>
                <a:lnTo>
                  <a:pt x="0" y="106028"/>
                </a:lnTo>
              </a:path>
            </a:pathLst>
          </a:custGeom>
          <a:ln w="11780">
            <a:solidFill>
              <a:srgbClr val="DEDED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2" name="object 22"/>
          <p:cNvGrpSpPr/>
          <p:nvPr/>
        </p:nvGrpSpPr>
        <p:grpSpPr>
          <a:xfrm>
            <a:off x="3641902" y="5255740"/>
            <a:ext cx="1399540" cy="118110"/>
            <a:chOff x="3641902" y="5255740"/>
            <a:chExt cx="1399540" cy="118110"/>
          </a:xfrm>
        </p:grpSpPr>
        <p:sp>
          <p:nvSpPr>
            <p:cNvPr id="23" name="object 23"/>
            <p:cNvSpPr/>
            <p:nvPr/>
          </p:nvSpPr>
          <p:spPr>
            <a:xfrm>
              <a:off x="3647935" y="5261772"/>
              <a:ext cx="0" cy="106045"/>
            </a:xfrm>
            <a:custGeom>
              <a:avLst/>
              <a:gdLst/>
              <a:ahLst/>
              <a:cxnLst/>
              <a:rect l="l" t="t" r="r" b="b"/>
              <a:pathLst>
                <a:path w="0" h="106045">
                  <a:moveTo>
                    <a:pt x="0" y="0"/>
                  </a:moveTo>
                  <a:lnTo>
                    <a:pt x="0" y="106028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035035" y="5261772"/>
              <a:ext cx="0" cy="106045"/>
            </a:xfrm>
            <a:custGeom>
              <a:avLst/>
              <a:gdLst/>
              <a:ahLst/>
              <a:cxnLst/>
              <a:rect l="l" t="t" r="r" b="b"/>
              <a:pathLst>
                <a:path w="0" h="106045">
                  <a:moveTo>
                    <a:pt x="0" y="0"/>
                  </a:moveTo>
                  <a:lnTo>
                    <a:pt x="0" y="106028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/>
          <p:nvPr/>
        </p:nvSpPr>
        <p:spPr>
          <a:xfrm>
            <a:off x="6418346" y="5261772"/>
            <a:ext cx="0" cy="106045"/>
          </a:xfrm>
          <a:custGeom>
            <a:avLst/>
            <a:gdLst/>
            <a:ahLst/>
            <a:cxnLst/>
            <a:rect l="l" t="t" r="r" b="b"/>
            <a:pathLst>
              <a:path w="0" h="106045">
                <a:moveTo>
                  <a:pt x="0" y="0"/>
                </a:moveTo>
                <a:lnTo>
                  <a:pt x="0" y="106028"/>
                </a:lnTo>
              </a:path>
            </a:pathLst>
          </a:custGeom>
          <a:ln w="11780">
            <a:solidFill>
              <a:srgbClr val="DEDE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759074" y="4357189"/>
            <a:ext cx="332105" cy="101726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25">
                <a:solidFill>
                  <a:srgbClr val="1F2937"/>
                </a:solidFill>
                <a:latin typeface="Trebuchet MS"/>
                <a:cs typeface="Trebuchet MS"/>
              </a:rPr>
              <a:t>50k</a:t>
            </a: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50" spc="30">
                <a:solidFill>
                  <a:srgbClr val="1F2937"/>
                </a:solidFill>
                <a:latin typeface="Trebuchet MS"/>
                <a:cs typeface="Trebuchet MS"/>
              </a:rPr>
              <a:t>0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62952" y="2471927"/>
            <a:ext cx="6574155" cy="2795905"/>
            <a:chOff x="362952" y="2471927"/>
            <a:chExt cx="6574155" cy="2795905"/>
          </a:xfrm>
        </p:grpSpPr>
        <p:sp>
          <p:nvSpPr>
            <p:cNvPr id="30" name="object 30"/>
            <p:cNvSpPr/>
            <p:nvPr/>
          </p:nvSpPr>
          <p:spPr>
            <a:xfrm>
              <a:off x="598571" y="2529777"/>
              <a:ext cx="6102985" cy="2732405"/>
            </a:xfrm>
            <a:custGeom>
              <a:avLst/>
              <a:gdLst/>
              <a:ahLst/>
              <a:cxnLst/>
              <a:rect l="l" t="t" r="r" b="b"/>
              <a:pathLst>
                <a:path w="6102984" h="2732404">
                  <a:moveTo>
                    <a:pt x="0" y="0"/>
                  </a:moveTo>
                  <a:lnTo>
                    <a:pt x="6102517" y="0"/>
                  </a:lnTo>
                  <a:lnTo>
                    <a:pt x="6102517" y="2731995"/>
                  </a:lnTo>
                  <a:lnTo>
                    <a:pt x="0" y="2731995"/>
                  </a:lnTo>
                  <a:lnTo>
                    <a:pt x="0" y="0"/>
                  </a:lnTo>
                  <a:close/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2952" y="2471927"/>
              <a:ext cx="6573754" cy="165811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1313" y="2935028"/>
              <a:ext cx="5537033" cy="2326744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34327" y="2823581"/>
              <a:ext cx="294640" cy="212090"/>
            </a:xfrm>
            <a:custGeom>
              <a:avLst/>
              <a:gdLst/>
              <a:ahLst/>
              <a:cxnLst/>
              <a:rect l="l" t="t" r="r" b="b"/>
              <a:pathLst>
                <a:path w="294640" h="212089">
                  <a:moveTo>
                    <a:pt x="254057" y="212056"/>
                  </a:moveTo>
                  <a:lnTo>
                    <a:pt x="40465" y="212056"/>
                  </a:lnTo>
                  <a:lnTo>
                    <a:pt x="34514" y="210872"/>
                  </a:lnTo>
                  <a:lnTo>
                    <a:pt x="1183" y="177541"/>
                  </a:lnTo>
                  <a:lnTo>
                    <a:pt x="0" y="171590"/>
                  </a:lnTo>
                  <a:lnTo>
                    <a:pt x="0" y="165404"/>
                  </a:lnTo>
                  <a:lnTo>
                    <a:pt x="0" y="40465"/>
                  </a:lnTo>
                  <a:lnTo>
                    <a:pt x="23083" y="5918"/>
                  </a:lnTo>
                  <a:lnTo>
                    <a:pt x="40465" y="0"/>
                  </a:lnTo>
                  <a:lnTo>
                    <a:pt x="254057" y="0"/>
                  </a:lnTo>
                  <a:lnTo>
                    <a:pt x="288604" y="23083"/>
                  </a:lnTo>
                  <a:lnTo>
                    <a:pt x="294523" y="40465"/>
                  </a:lnTo>
                  <a:lnTo>
                    <a:pt x="294523" y="171590"/>
                  </a:lnTo>
                  <a:lnTo>
                    <a:pt x="271439" y="206137"/>
                  </a:lnTo>
                  <a:lnTo>
                    <a:pt x="260008" y="210872"/>
                  </a:lnTo>
                  <a:lnTo>
                    <a:pt x="254057" y="212056"/>
                  </a:lnTo>
                  <a:close/>
                </a:path>
              </a:pathLst>
            </a:custGeom>
            <a:solidFill>
              <a:srgbClr val="000000">
                <a:alpha val="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/>
          <p:nvPr/>
        </p:nvSpPr>
        <p:spPr>
          <a:xfrm>
            <a:off x="6266758" y="2652838"/>
            <a:ext cx="306705" cy="212090"/>
          </a:xfrm>
          <a:custGeom>
            <a:avLst/>
            <a:gdLst/>
            <a:ahLst/>
            <a:cxnLst/>
            <a:rect l="l" t="t" r="r" b="b"/>
            <a:pathLst>
              <a:path w="306704" h="212089">
                <a:moveTo>
                  <a:pt x="265838" y="212056"/>
                </a:moveTo>
                <a:lnTo>
                  <a:pt x="40465" y="212056"/>
                </a:lnTo>
                <a:lnTo>
                  <a:pt x="34514" y="210872"/>
                </a:lnTo>
                <a:lnTo>
                  <a:pt x="1183" y="177541"/>
                </a:lnTo>
                <a:lnTo>
                  <a:pt x="0" y="171590"/>
                </a:lnTo>
                <a:lnTo>
                  <a:pt x="0" y="165404"/>
                </a:lnTo>
                <a:lnTo>
                  <a:pt x="0" y="40465"/>
                </a:lnTo>
                <a:lnTo>
                  <a:pt x="23083" y="5918"/>
                </a:lnTo>
                <a:lnTo>
                  <a:pt x="40465" y="0"/>
                </a:lnTo>
                <a:lnTo>
                  <a:pt x="265838" y="0"/>
                </a:lnTo>
                <a:lnTo>
                  <a:pt x="300385" y="23083"/>
                </a:lnTo>
                <a:lnTo>
                  <a:pt x="306303" y="40465"/>
                </a:lnTo>
                <a:lnTo>
                  <a:pt x="306303" y="171590"/>
                </a:lnTo>
                <a:lnTo>
                  <a:pt x="283220" y="206137"/>
                </a:lnTo>
                <a:lnTo>
                  <a:pt x="271789" y="210872"/>
                </a:lnTo>
                <a:lnTo>
                  <a:pt x="265838" y="212056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6289401" y="2653214"/>
            <a:ext cx="25844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0">
                <a:latin typeface="Trebuchet MS"/>
                <a:cs typeface="Trebuchet MS"/>
              </a:rPr>
              <a:t>152k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529290" y="2447912"/>
            <a:ext cx="2906395" cy="425450"/>
          </a:xfrm>
          <a:prstGeom prst="rect">
            <a:avLst/>
          </a:prstGeom>
        </p:spPr>
        <p:txBody>
          <a:bodyPr wrap="square" lIns="0" tIns="22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2018: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140,843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 spc="-155">
                <a:solidFill>
                  <a:srgbClr val="5B6577"/>
                </a:solidFill>
                <a:latin typeface="Trebuchet MS"/>
                <a:cs typeface="Trebuchet MS"/>
              </a:rPr>
              <a:t>|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2019: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137,191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 spc="-155">
                <a:solidFill>
                  <a:srgbClr val="5B6577"/>
                </a:solidFill>
                <a:latin typeface="Trebuchet MS"/>
                <a:cs typeface="Trebuchet MS"/>
              </a:rPr>
              <a:t>|</a:t>
            </a:r>
            <a:r>
              <a:rPr dirty="0" sz="1250" spc="-20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5B6577"/>
                </a:solidFill>
                <a:latin typeface="Trebuchet MS"/>
                <a:cs typeface="Trebuchet MS"/>
              </a:rPr>
              <a:t>2020:</a:t>
            </a:r>
            <a:endParaRPr sz="12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116,496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 spc="-155">
                <a:solidFill>
                  <a:srgbClr val="5B6577"/>
                </a:solidFill>
                <a:latin typeface="Trebuchet MS"/>
                <a:cs typeface="Trebuchet MS"/>
              </a:rPr>
              <a:t>|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2021: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128,825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 spc="-155">
                <a:solidFill>
                  <a:srgbClr val="5B6577"/>
                </a:solidFill>
                <a:latin typeface="Trebuchet MS"/>
                <a:cs typeface="Trebuchet MS"/>
              </a:rPr>
              <a:t>|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2022:</a:t>
            </a:r>
            <a:r>
              <a:rPr dirty="0" sz="1250" spc="-20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5B6577"/>
                </a:solidFill>
                <a:latin typeface="Trebuchet MS"/>
                <a:cs typeface="Trebuchet MS"/>
              </a:rPr>
              <a:t>151,997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56970" y="2823958"/>
            <a:ext cx="24892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5">
                <a:latin typeface="Trebuchet MS"/>
                <a:cs typeface="Trebuchet MS"/>
              </a:rPr>
              <a:t>141k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116073" y="2879485"/>
            <a:ext cx="294640" cy="212090"/>
          </a:xfrm>
          <a:custGeom>
            <a:avLst/>
            <a:gdLst/>
            <a:ahLst/>
            <a:cxnLst/>
            <a:rect l="l" t="t" r="r" b="b"/>
            <a:pathLst>
              <a:path w="294639" h="212089">
                <a:moveTo>
                  <a:pt x="254057" y="212056"/>
                </a:moveTo>
                <a:lnTo>
                  <a:pt x="40465" y="212056"/>
                </a:lnTo>
                <a:lnTo>
                  <a:pt x="34514" y="210872"/>
                </a:lnTo>
                <a:lnTo>
                  <a:pt x="1183" y="177541"/>
                </a:lnTo>
                <a:lnTo>
                  <a:pt x="0" y="171590"/>
                </a:lnTo>
                <a:lnTo>
                  <a:pt x="0" y="165404"/>
                </a:lnTo>
                <a:lnTo>
                  <a:pt x="0" y="40465"/>
                </a:lnTo>
                <a:lnTo>
                  <a:pt x="23083" y="5918"/>
                </a:lnTo>
                <a:lnTo>
                  <a:pt x="40465" y="0"/>
                </a:lnTo>
                <a:lnTo>
                  <a:pt x="254057" y="0"/>
                </a:lnTo>
                <a:lnTo>
                  <a:pt x="288604" y="23083"/>
                </a:lnTo>
                <a:lnTo>
                  <a:pt x="294523" y="40465"/>
                </a:lnTo>
                <a:lnTo>
                  <a:pt x="294523" y="171590"/>
                </a:lnTo>
                <a:lnTo>
                  <a:pt x="271439" y="206137"/>
                </a:lnTo>
                <a:lnTo>
                  <a:pt x="260008" y="210872"/>
                </a:lnTo>
                <a:lnTo>
                  <a:pt x="254057" y="212056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138716" y="2879862"/>
            <a:ext cx="25209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0">
                <a:latin typeface="Trebuchet MS"/>
                <a:cs typeface="Trebuchet MS"/>
              </a:rPr>
              <a:t>137k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881883" y="3007551"/>
            <a:ext cx="306705" cy="212090"/>
          </a:xfrm>
          <a:custGeom>
            <a:avLst/>
            <a:gdLst/>
            <a:ahLst/>
            <a:cxnLst/>
            <a:rect l="l" t="t" r="r" b="b"/>
            <a:pathLst>
              <a:path w="306704" h="212089">
                <a:moveTo>
                  <a:pt x="265838" y="212056"/>
                </a:moveTo>
                <a:lnTo>
                  <a:pt x="40465" y="212056"/>
                </a:lnTo>
                <a:lnTo>
                  <a:pt x="34514" y="210872"/>
                </a:lnTo>
                <a:lnTo>
                  <a:pt x="1183" y="177541"/>
                </a:lnTo>
                <a:lnTo>
                  <a:pt x="0" y="171590"/>
                </a:lnTo>
                <a:lnTo>
                  <a:pt x="0" y="165404"/>
                </a:lnTo>
                <a:lnTo>
                  <a:pt x="0" y="40465"/>
                </a:lnTo>
                <a:lnTo>
                  <a:pt x="23083" y="5918"/>
                </a:lnTo>
                <a:lnTo>
                  <a:pt x="40465" y="0"/>
                </a:lnTo>
                <a:lnTo>
                  <a:pt x="265838" y="0"/>
                </a:lnTo>
                <a:lnTo>
                  <a:pt x="300385" y="23083"/>
                </a:lnTo>
                <a:lnTo>
                  <a:pt x="306303" y="40465"/>
                </a:lnTo>
                <a:lnTo>
                  <a:pt x="306303" y="171590"/>
                </a:lnTo>
                <a:lnTo>
                  <a:pt x="283220" y="206137"/>
                </a:lnTo>
                <a:lnTo>
                  <a:pt x="271789" y="210872"/>
                </a:lnTo>
                <a:lnTo>
                  <a:pt x="265838" y="212056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4904526" y="3007928"/>
            <a:ext cx="261620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0">
                <a:latin typeface="Trebuchet MS"/>
                <a:cs typeface="Trebuchet MS"/>
              </a:rPr>
              <a:t>129k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498096" y="3196281"/>
            <a:ext cx="294640" cy="212090"/>
          </a:xfrm>
          <a:custGeom>
            <a:avLst/>
            <a:gdLst/>
            <a:ahLst/>
            <a:cxnLst/>
            <a:rect l="l" t="t" r="r" b="b"/>
            <a:pathLst>
              <a:path w="294639" h="212089">
                <a:moveTo>
                  <a:pt x="254057" y="212056"/>
                </a:moveTo>
                <a:lnTo>
                  <a:pt x="40465" y="212056"/>
                </a:lnTo>
                <a:lnTo>
                  <a:pt x="34514" y="210872"/>
                </a:lnTo>
                <a:lnTo>
                  <a:pt x="1183" y="177541"/>
                </a:lnTo>
                <a:lnTo>
                  <a:pt x="0" y="171590"/>
                </a:lnTo>
                <a:lnTo>
                  <a:pt x="0" y="165404"/>
                </a:lnTo>
                <a:lnTo>
                  <a:pt x="0" y="40465"/>
                </a:lnTo>
                <a:lnTo>
                  <a:pt x="23083" y="5918"/>
                </a:lnTo>
                <a:lnTo>
                  <a:pt x="40465" y="0"/>
                </a:lnTo>
                <a:lnTo>
                  <a:pt x="254057" y="0"/>
                </a:lnTo>
                <a:lnTo>
                  <a:pt x="288604" y="23083"/>
                </a:lnTo>
                <a:lnTo>
                  <a:pt x="294523" y="40465"/>
                </a:lnTo>
                <a:lnTo>
                  <a:pt x="294523" y="171590"/>
                </a:lnTo>
                <a:lnTo>
                  <a:pt x="271439" y="206137"/>
                </a:lnTo>
                <a:lnTo>
                  <a:pt x="260008" y="210872"/>
                </a:lnTo>
                <a:lnTo>
                  <a:pt x="254057" y="212056"/>
                </a:lnTo>
                <a:close/>
              </a:path>
            </a:pathLst>
          </a:custGeom>
          <a:solidFill>
            <a:srgbClr val="000000">
              <a:alpha val="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3520738" y="3196658"/>
            <a:ext cx="254635" cy="1657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00" spc="-20">
                <a:latin typeface="Trebuchet MS"/>
                <a:cs typeface="Trebuchet MS"/>
              </a:rPr>
              <a:t>116k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529290" y="3105213"/>
            <a:ext cx="279146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55">
                <a:solidFill>
                  <a:srgbClr val="1F2937"/>
                </a:solidFill>
                <a:latin typeface="Trebuchet MS"/>
                <a:cs typeface="Trebuchet MS"/>
              </a:rPr>
              <a:t>2022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was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90">
                <a:solidFill>
                  <a:srgbClr val="1F2937"/>
                </a:solidFill>
                <a:latin typeface="Trebuchet MS"/>
                <a:cs typeface="Trebuchet MS"/>
              </a:rPr>
              <a:t>18.0%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above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35">
                <a:solidFill>
                  <a:srgbClr val="1F2937"/>
                </a:solidFill>
                <a:latin typeface="Trebuchet MS"/>
                <a:cs typeface="Trebuchet MS"/>
              </a:rPr>
              <a:t>2021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8529290" y="3638613"/>
            <a:ext cx="26708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 spc="55">
                <a:solidFill>
                  <a:srgbClr val="1F2937"/>
                </a:solidFill>
                <a:latin typeface="Trebuchet MS"/>
                <a:cs typeface="Trebuchet MS"/>
              </a:rPr>
              <a:t>2022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was</a:t>
            </a:r>
            <a:r>
              <a:rPr dirty="0" sz="1700" spc="-1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95">
                <a:solidFill>
                  <a:srgbClr val="1F2937"/>
                </a:solidFill>
                <a:latin typeface="Trebuchet MS"/>
                <a:cs typeface="Trebuchet MS"/>
              </a:rPr>
              <a:t>7.9%</a:t>
            </a:r>
            <a:r>
              <a:rPr dirty="0" sz="1700" spc="-1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above</a:t>
            </a:r>
            <a:r>
              <a:rPr dirty="0" sz="1700" spc="-1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35">
                <a:solidFill>
                  <a:srgbClr val="1F2937"/>
                </a:solidFill>
                <a:latin typeface="Trebuchet MS"/>
                <a:cs typeface="Trebuchet MS"/>
              </a:rPr>
              <a:t>2018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529290" y="4162488"/>
            <a:ext cx="149352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0">
                <a:solidFill>
                  <a:srgbClr val="5B6577"/>
                </a:solidFill>
                <a:latin typeface="Trebuchet MS"/>
                <a:cs typeface="Trebuchet MS"/>
              </a:rPr>
              <a:t>Source:</a:t>
            </a:r>
            <a:r>
              <a:rPr dirty="0" sz="1250" spc="-30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MoRTH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/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PIB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2087" y="5361598"/>
            <a:ext cx="416559" cy="252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20">
                <a:solidFill>
                  <a:srgbClr val="1F2937"/>
                </a:solidFill>
                <a:latin typeface="Trebuchet MS"/>
                <a:cs typeface="Trebuchet MS"/>
              </a:rPr>
              <a:t>2018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05398" y="5361598"/>
            <a:ext cx="412115" cy="252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20">
                <a:solidFill>
                  <a:srgbClr val="1F2937"/>
                </a:solidFill>
                <a:latin typeface="Trebuchet MS"/>
                <a:cs typeface="Trebuchet MS"/>
              </a:rPr>
              <a:t>2019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49621" y="5304910"/>
            <a:ext cx="455295" cy="59118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580"/>
              </a:spcBef>
            </a:pPr>
            <a:r>
              <a:rPr dirty="0" sz="1450" spc="-20">
                <a:solidFill>
                  <a:srgbClr val="1F2937"/>
                </a:solidFill>
                <a:latin typeface="Trebuchet MS"/>
                <a:cs typeface="Trebuchet MS"/>
              </a:rPr>
              <a:t>2020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450" spc="-20">
                <a:solidFill>
                  <a:srgbClr val="1F2937"/>
                </a:solidFill>
                <a:latin typeface="Trebuchet MS"/>
                <a:cs typeface="Trebuchet MS"/>
              </a:rPr>
              <a:t>Year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76546" y="5361598"/>
            <a:ext cx="402590" cy="252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20">
                <a:solidFill>
                  <a:srgbClr val="1F2937"/>
                </a:solidFill>
                <a:latin typeface="Trebuchet MS"/>
                <a:cs typeface="Trebuchet MS"/>
              </a:rPr>
              <a:t>2021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46971" y="5361598"/>
            <a:ext cx="417830" cy="252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20">
                <a:solidFill>
                  <a:srgbClr val="1F2937"/>
                </a:solidFill>
                <a:latin typeface="Trebuchet MS"/>
                <a:cs typeface="Trebuchet MS"/>
              </a:rPr>
              <a:t>2022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0342244" y="6343650"/>
            <a:ext cx="1758314" cy="419100"/>
            <a:chOff x="10342244" y="6343650"/>
            <a:chExt cx="1758314" cy="419100"/>
          </a:xfrm>
        </p:grpSpPr>
        <p:pic>
          <p:nvPicPr>
            <p:cNvPr id="48" name="object 48">
              <a:hlinkClick r:id="rId4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42244" y="6343650"/>
              <a:ext cx="1754504" cy="419100"/>
            </a:xfrm>
            <a:prstGeom prst="rect">
              <a:avLst/>
            </a:prstGeom>
          </p:spPr>
        </p:pic>
        <p:pic>
          <p:nvPicPr>
            <p:cNvPr id="49" name="object 49">
              <a:hlinkClick r:id="rId4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47959" y="6343996"/>
              <a:ext cx="1752600" cy="392023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11850488" y="6533764"/>
            <a:ext cx="269240" cy="1930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z="1100" spc="-50">
                <a:solidFill>
                  <a:srgbClr val="1F2937"/>
                </a:solidFill>
                <a:latin typeface="Trebuchet MS"/>
                <a:cs typeface="Trebuchet MS"/>
                <a:hlinkClick r:id="rId4"/>
              </a:rPr>
              <a:t>2</a:t>
            </a:fld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38213"/>
            <a:ext cx="120269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B94A09"/>
                </a:solidFill>
                <a:latin typeface="Courier New"/>
                <a:cs typeface="Courier New"/>
              </a:rPr>
              <a:t>2022</a:t>
            </a:r>
            <a:r>
              <a:rPr dirty="0" sz="1250" spc="95">
                <a:solidFill>
                  <a:srgbClr val="B94A09"/>
                </a:solidFill>
                <a:latin typeface="Courier New"/>
                <a:cs typeface="Courier New"/>
              </a:rPr>
              <a:t> </a:t>
            </a:r>
            <a:r>
              <a:rPr dirty="0" sz="1250">
                <a:solidFill>
                  <a:srgbClr val="B94A09"/>
                </a:solidFill>
                <a:latin typeface="Courier New"/>
                <a:cs typeface="Courier New"/>
              </a:rPr>
              <a:t>TOP</a:t>
            </a:r>
            <a:r>
              <a:rPr dirty="0" sz="1250" spc="95">
                <a:solidFill>
                  <a:srgbClr val="B94A09"/>
                </a:solidFill>
                <a:latin typeface="Courier New"/>
                <a:cs typeface="Courier New"/>
              </a:rPr>
              <a:t> </a:t>
            </a:r>
            <a:r>
              <a:rPr dirty="0" sz="1250" spc="-25">
                <a:solidFill>
                  <a:srgbClr val="B94A09"/>
                </a:solidFill>
                <a:latin typeface="Courier New"/>
                <a:cs typeface="Courier New"/>
              </a:rPr>
              <a:t>TEN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8894" rIns="0" bIns="0" rtlCol="0" vert="horz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384"/>
              </a:spcBef>
            </a:pPr>
            <a:r>
              <a:rPr dirty="0" spc="-150"/>
              <a:t>Tamil</a:t>
            </a:r>
            <a:r>
              <a:rPr dirty="0" spc="-250"/>
              <a:t> </a:t>
            </a:r>
            <a:r>
              <a:rPr dirty="0" spc="-30"/>
              <a:t>Nadu</a:t>
            </a:r>
            <a:r>
              <a:rPr dirty="0" spc="-250"/>
              <a:t> </a:t>
            </a:r>
            <a:r>
              <a:rPr dirty="0" spc="-10"/>
              <a:t>and</a:t>
            </a:r>
            <a:r>
              <a:rPr dirty="0" spc="-250"/>
              <a:t> </a:t>
            </a:r>
            <a:r>
              <a:rPr dirty="0" spc="-105"/>
              <a:t>Kerala</a:t>
            </a:r>
            <a:r>
              <a:rPr dirty="0" spc="-250"/>
              <a:t> </a:t>
            </a:r>
            <a:r>
              <a:rPr dirty="0" spc="-50"/>
              <a:t>lead</a:t>
            </a:r>
            <a:r>
              <a:rPr dirty="0" spc="-250"/>
              <a:t> </a:t>
            </a:r>
            <a:r>
              <a:rPr dirty="0" spc="-25"/>
              <a:t>the </a:t>
            </a:r>
            <a:r>
              <a:rPr dirty="0" spc="-80"/>
              <a:t>report's</a:t>
            </a:r>
            <a:r>
              <a:rPr dirty="0" spc="-240"/>
              <a:t> </a:t>
            </a:r>
            <a:r>
              <a:rPr dirty="0" spc="-145"/>
              <a:t>2022</a:t>
            </a:r>
            <a:r>
              <a:rPr dirty="0" spc="-235"/>
              <a:t> </a:t>
            </a:r>
            <a:r>
              <a:rPr dirty="0" spc="-20"/>
              <a:t>top-</a:t>
            </a:r>
            <a:r>
              <a:rPr dirty="0" spc="-120"/>
              <a:t>ten</a:t>
            </a:r>
            <a:r>
              <a:rPr dirty="0" spc="-235"/>
              <a:t> </a:t>
            </a:r>
            <a:r>
              <a:rPr dirty="0" spc="-10"/>
              <a:t>ranking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440779" y="2192917"/>
            <a:ext cx="1431290" cy="3535045"/>
          </a:xfrm>
          <a:prstGeom prst="rect">
            <a:avLst/>
          </a:prstGeom>
        </p:spPr>
        <p:txBody>
          <a:bodyPr wrap="square" lIns="0" tIns="14160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115"/>
              </a:spcBef>
            </a:pPr>
            <a:r>
              <a:rPr dirty="0" sz="1450">
                <a:solidFill>
                  <a:srgbClr val="1F2937"/>
                </a:solidFill>
                <a:latin typeface="Trebuchet MS"/>
                <a:cs typeface="Trebuchet MS"/>
              </a:rPr>
              <a:t>Tamil</a:t>
            </a:r>
            <a:r>
              <a:rPr dirty="0" sz="1450" spc="-10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450" spc="35">
                <a:solidFill>
                  <a:srgbClr val="1F2937"/>
                </a:solidFill>
                <a:latin typeface="Trebuchet MS"/>
                <a:cs typeface="Trebuchet MS"/>
              </a:rPr>
              <a:t>Nadu</a:t>
            </a:r>
            <a:endParaRPr sz="1450">
              <a:latin typeface="Trebuchet MS"/>
              <a:cs typeface="Trebuchet MS"/>
            </a:endParaRPr>
          </a:p>
          <a:p>
            <a:pPr algn="r" marL="12700" marR="5080" indent="863600">
              <a:lnSpc>
                <a:spcPct val="158800"/>
              </a:lnSpc>
            </a:pPr>
            <a:r>
              <a:rPr dirty="0" sz="1450" spc="-10">
                <a:solidFill>
                  <a:srgbClr val="1F2937"/>
                </a:solidFill>
                <a:latin typeface="Trebuchet MS"/>
                <a:cs typeface="Trebuchet MS"/>
              </a:rPr>
              <a:t>Kerala </a:t>
            </a:r>
            <a:r>
              <a:rPr dirty="0" sz="1450">
                <a:solidFill>
                  <a:srgbClr val="1F2937"/>
                </a:solidFill>
                <a:latin typeface="Trebuchet MS"/>
                <a:cs typeface="Trebuchet MS"/>
              </a:rPr>
              <a:t>Uttar</a:t>
            </a:r>
            <a:r>
              <a:rPr dirty="0" sz="1450" spc="-6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1F2937"/>
                </a:solidFill>
                <a:latin typeface="Trebuchet MS"/>
                <a:cs typeface="Trebuchet MS"/>
              </a:rPr>
              <a:t>Pradesh </a:t>
            </a:r>
            <a:r>
              <a:rPr dirty="0" sz="1450" spc="55">
                <a:solidFill>
                  <a:srgbClr val="1F2937"/>
                </a:solidFill>
                <a:latin typeface="Trebuchet MS"/>
                <a:cs typeface="Trebuchet MS"/>
              </a:rPr>
              <a:t>Madhya</a:t>
            </a:r>
            <a:r>
              <a:rPr dirty="0" sz="1450" spc="-5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1F2937"/>
                </a:solidFill>
                <a:latin typeface="Trebuchet MS"/>
                <a:cs typeface="Trebuchet MS"/>
              </a:rPr>
              <a:t>Pradesh</a:t>
            </a:r>
            <a:endParaRPr sz="1450">
              <a:latin typeface="Trebuchet MS"/>
              <a:cs typeface="Trebuchet MS"/>
            </a:endParaRPr>
          </a:p>
          <a:p>
            <a:pPr algn="r" marL="66040" marR="5080" indent="476250">
              <a:lnSpc>
                <a:spcPct val="158800"/>
              </a:lnSpc>
            </a:pPr>
            <a:r>
              <a:rPr dirty="0" sz="1450" spc="-10">
                <a:solidFill>
                  <a:srgbClr val="1F2937"/>
                </a:solidFill>
                <a:latin typeface="Trebuchet MS"/>
                <a:cs typeface="Trebuchet MS"/>
              </a:rPr>
              <a:t>Karnataka Maharashtra </a:t>
            </a:r>
            <a:r>
              <a:rPr dirty="0" sz="1450">
                <a:solidFill>
                  <a:srgbClr val="1F2937"/>
                </a:solidFill>
                <a:latin typeface="Trebuchet MS"/>
                <a:cs typeface="Trebuchet MS"/>
              </a:rPr>
              <a:t>Andhra</a:t>
            </a:r>
            <a:r>
              <a:rPr dirty="0" sz="1450" spc="14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450" spc="-10">
                <a:solidFill>
                  <a:srgbClr val="1F2937"/>
                </a:solidFill>
                <a:latin typeface="Trebuchet MS"/>
                <a:cs typeface="Trebuchet MS"/>
              </a:rPr>
              <a:t>Pradesh</a:t>
            </a:r>
            <a:endParaRPr sz="1450">
              <a:latin typeface="Trebuchet MS"/>
              <a:cs typeface="Trebuchet MS"/>
            </a:endParaRPr>
          </a:p>
          <a:p>
            <a:pPr algn="r" marL="568325" marR="5080" indent="-22225">
              <a:lnSpc>
                <a:spcPct val="158800"/>
              </a:lnSpc>
            </a:pPr>
            <a:r>
              <a:rPr dirty="0" sz="1450" spc="-10">
                <a:solidFill>
                  <a:srgbClr val="1F2937"/>
                </a:solidFill>
                <a:latin typeface="Trebuchet MS"/>
                <a:cs typeface="Trebuchet MS"/>
              </a:rPr>
              <a:t>Telangana Rajasthan</a:t>
            </a:r>
            <a:endParaRPr sz="1450">
              <a:latin typeface="Trebuchet MS"/>
              <a:cs typeface="Trebuchet MS"/>
            </a:endParaRPr>
          </a:p>
          <a:p>
            <a:pPr algn="r" marR="5080">
              <a:lnSpc>
                <a:spcPct val="100000"/>
              </a:lnSpc>
              <a:spcBef>
                <a:spcPts val="1025"/>
              </a:spcBef>
            </a:pPr>
            <a:r>
              <a:rPr dirty="0" sz="1450" spc="-10">
                <a:solidFill>
                  <a:srgbClr val="1F2937"/>
                </a:solidFill>
                <a:latin typeface="Trebuchet MS"/>
                <a:cs typeface="Trebuchet MS"/>
              </a:rPr>
              <a:t>Bihar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4500" y="1965085"/>
            <a:ext cx="473709" cy="252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10">
                <a:solidFill>
                  <a:srgbClr val="1F2937"/>
                </a:solidFill>
                <a:latin typeface="Trebuchet MS"/>
                <a:cs typeface="Trebuchet MS"/>
              </a:rPr>
              <a:t>State</a:t>
            </a:r>
            <a:endParaRPr sz="145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876658" y="2394421"/>
            <a:ext cx="118110" cy="3171190"/>
            <a:chOff x="1876658" y="2394421"/>
            <a:chExt cx="118110" cy="3171190"/>
          </a:xfrm>
        </p:grpSpPr>
        <p:sp>
          <p:nvSpPr>
            <p:cNvPr id="10" name="object 10"/>
            <p:cNvSpPr/>
            <p:nvPr/>
          </p:nvSpPr>
          <p:spPr>
            <a:xfrm>
              <a:off x="1882691" y="2400453"/>
              <a:ext cx="106045" cy="0"/>
            </a:xfrm>
            <a:custGeom>
              <a:avLst/>
              <a:gdLst/>
              <a:ahLst/>
              <a:cxnLst/>
              <a:rect l="l" t="t" r="r" b="b"/>
              <a:pathLst>
                <a:path w="106044" h="0">
                  <a:moveTo>
                    <a:pt x="0" y="0"/>
                  </a:moveTo>
                  <a:lnTo>
                    <a:pt x="106028" y="0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82691" y="2751407"/>
              <a:ext cx="106045" cy="0"/>
            </a:xfrm>
            <a:custGeom>
              <a:avLst/>
              <a:gdLst/>
              <a:ahLst/>
              <a:cxnLst/>
              <a:rect l="l" t="t" r="r" b="b"/>
              <a:pathLst>
                <a:path w="106044" h="0">
                  <a:moveTo>
                    <a:pt x="0" y="0"/>
                  </a:moveTo>
                  <a:lnTo>
                    <a:pt x="106028" y="0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882691" y="3102361"/>
              <a:ext cx="106045" cy="0"/>
            </a:xfrm>
            <a:custGeom>
              <a:avLst/>
              <a:gdLst/>
              <a:ahLst/>
              <a:cxnLst/>
              <a:rect l="l" t="t" r="r" b="b"/>
              <a:pathLst>
                <a:path w="106044" h="0">
                  <a:moveTo>
                    <a:pt x="0" y="0"/>
                  </a:moveTo>
                  <a:lnTo>
                    <a:pt x="106028" y="0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882691" y="3453315"/>
              <a:ext cx="106045" cy="0"/>
            </a:xfrm>
            <a:custGeom>
              <a:avLst/>
              <a:gdLst/>
              <a:ahLst/>
              <a:cxnLst/>
              <a:rect l="l" t="t" r="r" b="b"/>
              <a:pathLst>
                <a:path w="106044" h="0">
                  <a:moveTo>
                    <a:pt x="0" y="0"/>
                  </a:moveTo>
                  <a:lnTo>
                    <a:pt x="106028" y="0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882691" y="3804268"/>
              <a:ext cx="106045" cy="0"/>
            </a:xfrm>
            <a:custGeom>
              <a:avLst/>
              <a:gdLst/>
              <a:ahLst/>
              <a:cxnLst/>
              <a:rect l="l" t="t" r="r" b="b"/>
              <a:pathLst>
                <a:path w="106044" h="0">
                  <a:moveTo>
                    <a:pt x="0" y="0"/>
                  </a:moveTo>
                  <a:lnTo>
                    <a:pt x="106028" y="0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82691" y="4155222"/>
              <a:ext cx="106045" cy="0"/>
            </a:xfrm>
            <a:custGeom>
              <a:avLst/>
              <a:gdLst/>
              <a:ahLst/>
              <a:cxnLst/>
              <a:rect l="l" t="t" r="r" b="b"/>
              <a:pathLst>
                <a:path w="106044" h="0">
                  <a:moveTo>
                    <a:pt x="0" y="0"/>
                  </a:moveTo>
                  <a:lnTo>
                    <a:pt x="106028" y="0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882691" y="4506175"/>
              <a:ext cx="106045" cy="0"/>
            </a:xfrm>
            <a:custGeom>
              <a:avLst/>
              <a:gdLst/>
              <a:ahLst/>
              <a:cxnLst/>
              <a:rect l="l" t="t" r="r" b="b"/>
              <a:pathLst>
                <a:path w="106044" h="0">
                  <a:moveTo>
                    <a:pt x="0" y="0"/>
                  </a:moveTo>
                  <a:lnTo>
                    <a:pt x="106028" y="0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882691" y="4857129"/>
              <a:ext cx="106045" cy="0"/>
            </a:xfrm>
            <a:custGeom>
              <a:avLst/>
              <a:gdLst/>
              <a:ahLst/>
              <a:cxnLst/>
              <a:rect l="l" t="t" r="r" b="b"/>
              <a:pathLst>
                <a:path w="106044" h="0">
                  <a:moveTo>
                    <a:pt x="0" y="0"/>
                  </a:moveTo>
                  <a:lnTo>
                    <a:pt x="106028" y="0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882691" y="5208083"/>
              <a:ext cx="106045" cy="0"/>
            </a:xfrm>
            <a:custGeom>
              <a:avLst/>
              <a:gdLst/>
              <a:ahLst/>
              <a:cxnLst/>
              <a:rect l="l" t="t" r="r" b="b"/>
              <a:pathLst>
                <a:path w="106044" h="0">
                  <a:moveTo>
                    <a:pt x="0" y="0"/>
                  </a:moveTo>
                  <a:lnTo>
                    <a:pt x="106028" y="0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882691" y="5559036"/>
              <a:ext cx="106045" cy="0"/>
            </a:xfrm>
            <a:custGeom>
              <a:avLst/>
              <a:gdLst/>
              <a:ahLst/>
              <a:cxnLst/>
              <a:rect l="l" t="t" r="r" b="b"/>
              <a:pathLst>
                <a:path w="106044" h="0">
                  <a:moveTo>
                    <a:pt x="0" y="0"/>
                  </a:moveTo>
                  <a:lnTo>
                    <a:pt x="106028" y="0"/>
                  </a:lnTo>
                </a:path>
              </a:pathLst>
            </a:custGeom>
            <a:ln w="11780">
              <a:solidFill>
                <a:srgbClr val="DEDED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" name="object 4"/>
          <p:cNvSpPr txBox="1"/>
          <p:nvPr/>
        </p:nvSpPr>
        <p:spPr>
          <a:xfrm>
            <a:off x="1992829" y="5704859"/>
            <a:ext cx="133350" cy="252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30">
                <a:solidFill>
                  <a:srgbClr val="1F2937"/>
                </a:solidFill>
                <a:latin typeface="Trebuchet MS"/>
                <a:cs typeface="Trebuchet MS"/>
              </a:rPr>
              <a:t>0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19638" y="5704859"/>
            <a:ext cx="224154" cy="252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25">
                <a:solidFill>
                  <a:srgbClr val="1F2937"/>
                </a:solidFill>
                <a:latin typeface="Trebuchet MS"/>
                <a:cs typeface="Trebuchet MS"/>
              </a:rPr>
              <a:t>5k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0029" y="5648319"/>
            <a:ext cx="850265" cy="5911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24460">
              <a:lnSpc>
                <a:spcPct val="127899"/>
              </a:lnSpc>
              <a:spcBef>
                <a:spcPts val="90"/>
              </a:spcBef>
            </a:pPr>
            <a:r>
              <a:rPr dirty="0" sz="1450" spc="-25">
                <a:solidFill>
                  <a:srgbClr val="1F2937"/>
                </a:solidFill>
                <a:latin typeface="Trebuchet MS"/>
                <a:cs typeface="Trebuchet MS"/>
              </a:rPr>
              <a:t>10k </a:t>
            </a:r>
            <a:r>
              <a:rPr dirty="0" sz="1450" spc="-10">
                <a:solidFill>
                  <a:srgbClr val="1F2937"/>
                </a:solidFill>
                <a:latin typeface="Trebuchet MS"/>
                <a:cs typeface="Trebuchet MS"/>
              </a:rPr>
              <a:t>Accidents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21774" y="5704859"/>
            <a:ext cx="309245" cy="252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25">
                <a:solidFill>
                  <a:srgbClr val="1F2937"/>
                </a:solidFill>
                <a:latin typeface="Trebuchet MS"/>
                <a:cs typeface="Trebuchet MS"/>
              </a:rPr>
              <a:t>15k</a:t>
            </a:r>
            <a:endParaRPr sz="14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83558" y="5704859"/>
            <a:ext cx="329565" cy="2520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25">
                <a:solidFill>
                  <a:srgbClr val="1F2937"/>
                </a:solidFill>
                <a:latin typeface="Trebuchet MS"/>
                <a:cs typeface="Trebuchet MS"/>
              </a:rPr>
              <a:t>20k</a:t>
            </a:r>
            <a:endParaRPr sz="1450">
              <a:latin typeface="Trebuchet MS"/>
              <a:cs typeface="Trebuchet MS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0951" y="1834895"/>
            <a:ext cx="5522975" cy="448970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06978" y="2294977"/>
            <a:ext cx="247399" cy="212056"/>
          </a:xfrm>
          <a:prstGeom prst="rect">
            <a:avLst/>
          </a:prstGeom>
        </p:spPr>
      </p:pic>
      <p:sp>
        <p:nvSpPr>
          <p:cNvPr id="24" name="object 24"/>
          <p:cNvSpPr/>
          <p:nvPr/>
        </p:nvSpPr>
        <p:spPr>
          <a:xfrm>
            <a:off x="5809373" y="2645931"/>
            <a:ext cx="330200" cy="212090"/>
          </a:xfrm>
          <a:custGeom>
            <a:avLst/>
            <a:gdLst/>
            <a:ahLst/>
            <a:cxnLst/>
            <a:rect l="l" t="t" r="r" b="b"/>
            <a:pathLst>
              <a:path w="330200" h="212089">
                <a:moveTo>
                  <a:pt x="289399" y="212056"/>
                </a:moveTo>
                <a:lnTo>
                  <a:pt x="40465" y="212056"/>
                </a:lnTo>
                <a:lnTo>
                  <a:pt x="34514" y="210872"/>
                </a:lnTo>
                <a:lnTo>
                  <a:pt x="1183" y="177541"/>
                </a:lnTo>
                <a:lnTo>
                  <a:pt x="0" y="171590"/>
                </a:lnTo>
                <a:lnTo>
                  <a:pt x="0" y="165404"/>
                </a:lnTo>
                <a:lnTo>
                  <a:pt x="0" y="40465"/>
                </a:lnTo>
                <a:lnTo>
                  <a:pt x="23083" y="5918"/>
                </a:lnTo>
                <a:lnTo>
                  <a:pt x="40465" y="0"/>
                </a:lnTo>
                <a:lnTo>
                  <a:pt x="289399" y="0"/>
                </a:lnTo>
                <a:lnTo>
                  <a:pt x="323947" y="23083"/>
                </a:lnTo>
                <a:lnTo>
                  <a:pt x="329865" y="40465"/>
                </a:lnTo>
                <a:lnTo>
                  <a:pt x="329865" y="171590"/>
                </a:lnTo>
                <a:lnTo>
                  <a:pt x="306782" y="206137"/>
                </a:lnTo>
                <a:lnTo>
                  <a:pt x="295350" y="210872"/>
                </a:lnTo>
                <a:lnTo>
                  <a:pt x="289399" y="212056"/>
                </a:lnTo>
                <a:close/>
              </a:path>
            </a:pathLst>
          </a:custGeom>
          <a:solidFill>
            <a:srgbClr val="933B0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76657" y="2996885"/>
            <a:ext cx="247399" cy="212056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4913903" y="3347839"/>
            <a:ext cx="330200" cy="212090"/>
          </a:xfrm>
          <a:custGeom>
            <a:avLst/>
            <a:gdLst/>
            <a:ahLst/>
            <a:cxnLst/>
            <a:rect l="l" t="t" r="r" b="b"/>
            <a:pathLst>
              <a:path w="330200" h="212089">
                <a:moveTo>
                  <a:pt x="289399" y="212056"/>
                </a:moveTo>
                <a:lnTo>
                  <a:pt x="40465" y="212056"/>
                </a:lnTo>
                <a:lnTo>
                  <a:pt x="34514" y="210872"/>
                </a:lnTo>
                <a:lnTo>
                  <a:pt x="1183" y="177541"/>
                </a:lnTo>
                <a:lnTo>
                  <a:pt x="0" y="171590"/>
                </a:lnTo>
                <a:lnTo>
                  <a:pt x="0" y="165404"/>
                </a:lnTo>
                <a:lnTo>
                  <a:pt x="0" y="40465"/>
                </a:lnTo>
                <a:lnTo>
                  <a:pt x="23083" y="5918"/>
                </a:lnTo>
                <a:lnTo>
                  <a:pt x="40465" y="0"/>
                </a:lnTo>
                <a:lnTo>
                  <a:pt x="289399" y="0"/>
                </a:lnTo>
                <a:lnTo>
                  <a:pt x="323947" y="23083"/>
                </a:lnTo>
                <a:lnTo>
                  <a:pt x="329865" y="40465"/>
                </a:lnTo>
                <a:lnTo>
                  <a:pt x="329865" y="171590"/>
                </a:lnTo>
                <a:lnTo>
                  <a:pt x="306782" y="206137"/>
                </a:lnTo>
                <a:lnTo>
                  <a:pt x="295350" y="210872"/>
                </a:lnTo>
                <a:lnTo>
                  <a:pt x="289399" y="212056"/>
                </a:lnTo>
                <a:close/>
              </a:path>
            </a:pathLst>
          </a:custGeom>
          <a:solidFill>
            <a:srgbClr val="C74F0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800377" y="3698792"/>
            <a:ext cx="330200" cy="212090"/>
          </a:xfrm>
          <a:custGeom>
            <a:avLst/>
            <a:gdLst/>
            <a:ahLst/>
            <a:cxnLst/>
            <a:rect l="l" t="t" r="r" b="b"/>
            <a:pathLst>
              <a:path w="330200" h="212089">
                <a:moveTo>
                  <a:pt x="289399" y="212056"/>
                </a:moveTo>
                <a:lnTo>
                  <a:pt x="40465" y="212056"/>
                </a:lnTo>
                <a:lnTo>
                  <a:pt x="34514" y="210872"/>
                </a:lnTo>
                <a:lnTo>
                  <a:pt x="1183" y="177541"/>
                </a:lnTo>
                <a:lnTo>
                  <a:pt x="0" y="171590"/>
                </a:lnTo>
                <a:lnTo>
                  <a:pt x="0" y="165404"/>
                </a:lnTo>
                <a:lnTo>
                  <a:pt x="0" y="40465"/>
                </a:lnTo>
                <a:lnTo>
                  <a:pt x="23083" y="5918"/>
                </a:lnTo>
                <a:lnTo>
                  <a:pt x="40465" y="0"/>
                </a:lnTo>
                <a:lnTo>
                  <a:pt x="289399" y="0"/>
                </a:lnTo>
                <a:lnTo>
                  <a:pt x="323947" y="23083"/>
                </a:lnTo>
                <a:lnTo>
                  <a:pt x="329865" y="40465"/>
                </a:lnTo>
                <a:lnTo>
                  <a:pt x="329865" y="171590"/>
                </a:lnTo>
                <a:lnTo>
                  <a:pt x="306782" y="206137"/>
                </a:lnTo>
                <a:lnTo>
                  <a:pt x="295350" y="210872"/>
                </a:lnTo>
                <a:lnTo>
                  <a:pt x="289399" y="212056"/>
                </a:lnTo>
                <a:close/>
              </a:path>
            </a:pathLst>
          </a:custGeom>
          <a:solidFill>
            <a:srgbClr val="E25B0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854429" y="4049746"/>
            <a:ext cx="342265" cy="212090"/>
          </a:xfrm>
          <a:custGeom>
            <a:avLst/>
            <a:gdLst/>
            <a:ahLst/>
            <a:cxnLst/>
            <a:rect l="l" t="t" r="r" b="b"/>
            <a:pathLst>
              <a:path w="342264" h="212089">
                <a:moveTo>
                  <a:pt x="301180" y="212056"/>
                </a:moveTo>
                <a:lnTo>
                  <a:pt x="40465" y="212056"/>
                </a:lnTo>
                <a:lnTo>
                  <a:pt x="34514" y="210872"/>
                </a:lnTo>
                <a:lnTo>
                  <a:pt x="1183" y="177541"/>
                </a:lnTo>
                <a:lnTo>
                  <a:pt x="0" y="171590"/>
                </a:lnTo>
                <a:lnTo>
                  <a:pt x="0" y="165404"/>
                </a:lnTo>
                <a:lnTo>
                  <a:pt x="0" y="40465"/>
                </a:lnTo>
                <a:lnTo>
                  <a:pt x="23083" y="5918"/>
                </a:lnTo>
                <a:lnTo>
                  <a:pt x="40465" y="0"/>
                </a:lnTo>
                <a:lnTo>
                  <a:pt x="301180" y="0"/>
                </a:lnTo>
                <a:lnTo>
                  <a:pt x="335728" y="23083"/>
                </a:lnTo>
                <a:lnTo>
                  <a:pt x="341646" y="40465"/>
                </a:lnTo>
                <a:lnTo>
                  <a:pt x="341646" y="171590"/>
                </a:lnTo>
                <a:lnTo>
                  <a:pt x="318562" y="206137"/>
                </a:lnTo>
                <a:lnTo>
                  <a:pt x="307131" y="210872"/>
                </a:lnTo>
                <a:lnTo>
                  <a:pt x="301180" y="212056"/>
                </a:lnTo>
                <a:close/>
              </a:path>
            </a:pathLst>
          </a:custGeom>
          <a:solidFill>
            <a:srgbClr val="F1671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674337" y="4400699"/>
            <a:ext cx="353695" cy="212090"/>
          </a:xfrm>
          <a:custGeom>
            <a:avLst/>
            <a:gdLst/>
            <a:ahLst/>
            <a:cxnLst/>
            <a:rect l="l" t="t" r="r" b="b"/>
            <a:pathLst>
              <a:path w="353695" h="212089">
                <a:moveTo>
                  <a:pt x="312961" y="212056"/>
                </a:moveTo>
                <a:lnTo>
                  <a:pt x="40465" y="212056"/>
                </a:lnTo>
                <a:lnTo>
                  <a:pt x="34514" y="210872"/>
                </a:lnTo>
                <a:lnTo>
                  <a:pt x="1183" y="177541"/>
                </a:lnTo>
                <a:lnTo>
                  <a:pt x="0" y="171590"/>
                </a:lnTo>
                <a:lnTo>
                  <a:pt x="0" y="165404"/>
                </a:lnTo>
                <a:lnTo>
                  <a:pt x="0" y="40465"/>
                </a:lnTo>
                <a:lnTo>
                  <a:pt x="23083" y="5918"/>
                </a:lnTo>
                <a:lnTo>
                  <a:pt x="40465" y="0"/>
                </a:lnTo>
                <a:lnTo>
                  <a:pt x="312961" y="0"/>
                </a:lnTo>
                <a:lnTo>
                  <a:pt x="347508" y="23083"/>
                </a:lnTo>
                <a:lnTo>
                  <a:pt x="353427" y="40465"/>
                </a:lnTo>
                <a:lnTo>
                  <a:pt x="353427" y="171590"/>
                </a:lnTo>
                <a:lnTo>
                  <a:pt x="330343" y="206137"/>
                </a:lnTo>
                <a:lnTo>
                  <a:pt x="318912" y="210872"/>
                </a:lnTo>
                <a:lnTo>
                  <a:pt x="312961" y="212056"/>
                </a:lnTo>
                <a:close/>
              </a:path>
            </a:pathLst>
          </a:custGeom>
          <a:solidFill>
            <a:srgbClr val="F278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440786" y="4751653"/>
            <a:ext cx="318135" cy="212090"/>
          </a:xfrm>
          <a:custGeom>
            <a:avLst/>
            <a:gdLst/>
            <a:ahLst/>
            <a:cxnLst/>
            <a:rect l="l" t="t" r="r" b="b"/>
            <a:pathLst>
              <a:path w="318135" h="212089">
                <a:moveTo>
                  <a:pt x="277618" y="212056"/>
                </a:moveTo>
                <a:lnTo>
                  <a:pt x="40465" y="212056"/>
                </a:lnTo>
                <a:lnTo>
                  <a:pt x="34514" y="210872"/>
                </a:lnTo>
                <a:lnTo>
                  <a:pt x="1183" y="177541"/>
                </a:lnTo>
                <a:lnTo>
                  <a:pt x="0" y="171590"/>
                </a:lnTo>
                <a:lnTo>
                  <a:pt x="0" y="165404"/>
                </a:lnTo>
                <a:lnTo>
                  <a:pt x="0" y="40465"/>
                </a:lnTo>
                <a:lnTo>
                  <a:pt x="23083" y="5918"/>
                </a:lnTo>
                <a:lnTo>
                  <a:pt x="40465" y="0"/>
                </a:lnTo>
                <a:lnTo>
                  <a:pt x="277618" y="0"/>
                </a:lnTo>
                <a:lnTo>
                  <a:pt x="312166" y="23083"/>
                </a:lnTo>
                <a:lnTo>
                  <a:pt x="318084" y="40465"/>
                </a:lnTo>
                <a:lnTo>
                  <a:pt x="318084" y="171590"/>
                </a:lnTo>
                <a:lnTo>
                  <a:pt x="295001" y="206137"/>
                </a:lnTo>
                <a:lnTo>
                  <a:pt x="283569" y="210872"/>
                </a:lnTo>
                <a:lnTo>
                  <a:pt x="277618" y="212056"/>
                </a:lnTo>
                <a:close/>
              </a:path>
            </a:pathLst>
          </a:custGeom>
          <a:solidFill>
            <a:srgbClr val="F58B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320450" y="5102607"/>
            <a:ext cx="342265" cy="212090"/>
          </a:xfrm>
          <a:custGeom>
            <a:avLst/>
            <a:gdLst/>
            <a:ahLst/>
            <a:cxnLst/>
            <a:rect l="l" t="t" r="r" b="b"/>
            <a:pathLst>
              <a:path w="342264" h="212089">
                <a:moveTo>
                  <a:pt x="301180" y="212056"/>
                </a:moveTo>
                <a:lnTo>
                  <a:pt x="40465" y="212056"/>
                </a:lnTo>
                <a:lnTo>
                  <a:pt x="34514" y="210872"/>
                </a:lnTo>
                <a:lnTo>
                  <a:pt x="1183" y="177541"/>
                </a:lnTo>
                <a:lnTo>
                  <a:pt x="0" y="171590"/>
                </a:lnTo>
                <a:lnTo>
                  <a:pt x="0" y="165404"/>
                </a:lnTo>
                <a:lnTo>
                  <a:pt x="0" y="40465"/>
                </a:lnTo>
                <a:lnTo>
                  <a:pt x="23083" y="5918"/>
                </a:lnTo>
                <a:lnTo>
                  <a:pt x="40465" y="0"/>
                </a:lnTo>
                <a:lnTo>
                  <a:pt x="301180" y="0"/>
                </a:lnTo>
                <a:lnTo>
                  <a:pt x="335728" y="23083"/>
                </a:lnTo>
                <a:lnTo>
                  <a:pt x="341646" y="40465"/>
                </a:lnTo>
                <a:lnTo>
                  <a:pt x="341646" y="171590"/>
                </a:lnTo>
                <a:lnTo>
                  <a:pt x="318562" y="206137"/>
                </a:lnTo>
                <a:lnTo>
                  <a:pt x="307131" y="210872"/>
                </a:lnTo>
                <a:lnTo>
                  <a:pt x="301180" y="212056"/>
                </a:lnTo>
                <a:close/>
              </a:path>
            </a:pathLst>
          </a:custGeom>
          <a:solidFill>
            <a:srgbClr val="F59C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790252" y="5453560"/>
            <a:ext cx="283210" cy="212090"/>
          </a:xfrm>
          <a:custGeom>
            <a:avLst/>
            <a:gdLst/>
            <a:ahLst/>
            <a:cxnLst/>
            <a:rect l="l" t="t" r="r" b="b"/>
            <a:pathLst>
              <a:path w="283210" h="212089">
                <a:moveTo>
                  <a:pt x="242276" y="212056"/>
                </a:moveTo>
                <a:lnTo>
                  <a:pt x="40465" y="212056"/>
                </a:lnTo>
                <a:lnTo>
                  <a:pt x="34514" y="210872"/>
                </a:lnTo>
                <a:lnTo>
                  <a:pt x="1183" y="177541"/>
                </a:lnTo>
                <a:lnTo>
                  <a:pt x="0" y="171590"/>
                </a:lnTo>
                <a:lnTo>
                  <a:pt x="0" y="165404"/>
                </a:lnTo>
                <a:lnTo>
                  <a:pt x="0" y="40465"/>
                </a:lnTo>
                <a:lnTo>
                  <a:pt x="23083" y="5918"/>
                </a:lnTo>
                <a:lnTo>
                  <a:pt x="40465" y="0"/>
                </a:lnTo>
                <a:lnTo>
                  <a:pt x="242276" y="0"/>
                </a:lnTo>
                <a:lnTo>
                  <a:pt x="276823" y="23083"/>
                </a:lnTo>
                <a:lnTo>
                  <a:pt x="282742" y="40465"/>
                </a:lnTo>
                <a:lnTo>
                  <a:pt x="282742" y="171590"/>
                </a:lnTo>
                <a:lnTo>
                  <a:pt x="259658" y="206137"/>
                </a:lnTo>
                <a:lnTo>
                  <a:pt x="248227" y="210872"/>
                </a:lnTo>
                <a:lnTo>
                  <a:pt x="242276" y="212056"/>
                </a:lnTo>
                <a:close/>
              </a:path>
            </a:pathLst>
          </a:custGeom>
          <a:solidFill>
            <a:srgbClr val="F7AC81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33" name="object 33"/>
          <p:cNvGraphicFramePr>
            <a:graphicFrameLocks noGrp="1"/>
          </p:cNvGraphicFramePr>
          <p:nvPr/>
        </p:nvGraphicFramePr>
        <p:xfrm>
          <a:off x="2053514" y="2219086"/>
          <a:ext cx="5059680" cy="3509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2210"/>
                <a:gridCol w="1172210"/>
                <a:gridCol w="1172209"/>
                <a:gridCol w="1172210"/>
                <a:gridCol w="282575"/>
              </a:tblGrid>
              <a:tr h="3509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7658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20">
                          <a:latin typeface="Trebuchet MS"/>
                          <a:cs typeface="Trebuchet MS"/>
                        </a:rPr>
                        <a:t>4.6k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DEDEDF"/>
                      </a:solidFill>
                      <a:prstDash val="solid"/>
                    </a:lnL>
                    <a:lnR w="12700">
                      <a:solidFill>
                        <a:srgbClr val="DEDEDF"/>
                      </a:solidFill>
                      <a:prstDash val="solid"/>
                    </a:lnR>
                    <a:lnT w="12700">
                      <a:solidFill>
                        <a:srgbClr val="DEDEDF"/>
                      </a:solidFill>
                      <a:prstDash val="solid"/>
                    </a:lnT>
                    <a:lnB w="12700">
                      <a:solidFill>
                        <a:srgbClr val="DEDE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3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6578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900" spc="-10">
                          <a:latin typeface="Trebuchet MS"/>
                          <a:cs typeface="Trebuchet MS"/>
                        </a:rPr>
                        <a:t>9.42k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62230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Trebuchet MS"/>
                          <a:cs typeface="Trebuchet MS"/>
                        </a:rPr>
                        <a:t>8.65k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44475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Trebuchet MS"/>
                          <a:cs typeface="Trebuchet MS"/>
                        </a:rPr>
                        <a:t>7.51k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123825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Trebuchet MS"/>
                          <a:cs typeface="Trebuchet MS"/>
                        </a:rPr>
                        <a:t>7.09k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DEDEDF"/>
                      </a:solidFill>
                      <a:prstDash val="solid"/>
                    </a:lnL>
                    <a:lnR w="12700">
                      <a:solidFill>
                        <a:srgbClr val="DEDEDF"/>
                      </a:solidFill>
                      <a:prstDash val="solid"/>
                    </a:lnR>
                    <a:lnT w="12700">
                      <a:solidFill>
                        <a:srgbClr val="DEDEDF"/>
                      </a:solidFill>
                      <a:prstDash val="solid"/>
                    </a:lnT>
                    <a:lnB w="12700">
                      <a:solidFill>
                        <a:srgbClr val="DEDE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1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r" marR="81280">
                        <a:lnSpc>
                          <a:spcPct val="100000"/>
                        </a:lnSpc>
                      </a:pPr>
                      <a:r>
                        <a:rPr dirty="0" sz="900" spc="-25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15k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44830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13.9k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R="38735">
                        <a:lnSpc>
                          <a:spcPct val="100000"/>
                        </a:lnSpc>
                      </a:pPr>
                      <a:r>
                        <a:rPr dirty="0" sz="900" spc="-10">
                          <a:latin typeface="Trebuchet MS"/>
                          <a:cs typeface="Trebuchet MS"/>
                        </a:rPr>
                        <a:t>13.4k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12700">
                      <a:solidFill>
                        <a:srgbClr val="DEDEDF"/>
                      </a:solidFill>
                      <a:prstDash val="solid"/>
                    </a:lnL>
                    <a:lnR w="12700">
                      <a:solidFill>
                        <a:srgbClr val="DEDEDF"/>
                      </a:solidFill>
                      <a:prstDash val="solid"/>
                    </a:lnR>
                    <a:lnT w="12700">
                      <a:solidFill>
                        <a:srgbClr val="DEDEDF"/>
                      </a:solidFill>
                      <a:prstDash val="solid"/>
                    </a:lnT>
                    <a:lnB w="12700">
                      <a:solidFill>
                        <a:srgbClr val="DEDE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11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dirty="0" sz="900" spc="-25">
                          <a:latin typeface="Trebuchet MS"/>
                          <a:cs typeface="Trebuchet MS"/>
                        </a:rPr>
                        <a:t>19k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268605">
                        <a:lnSpc>
                          <a:spcPct val="100000"/>
                        </a:lnSpc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Trebuchet MS"/>
                          <a:cs typeface="Trebuchet MS"/>
                        </a:rPr>
                        <a:t>17.6k</a:t>
                      </a:r>
                      <a:endParaRPr sz="900">
                        <a:latin typeface="Trebuchet MS"/>
                        <a:cs typeface="Trebuchet MS"/>
                      </a:endParaRPr>
                    </a:p>
                  </a:txBody>
                  <a:tcPr marL="0" marR="0" marB="0" marT="85090">
                    <a:lnL w="12700">
                      <a:solidFill>
                        <a:srgbClr val="DEDEDF"/>
                      </a:solidFill>
                      <a:prstDash val="solid"/>
                    </a:lnL>
                    <a:lnR w="12700">
                      <a:solidFill>
                        <a:srgbClr val="DEDEDF"/>
                      </a:solidFill>
                      <a:prstDash val="solid"/>
                    </a:lnR>
                    <a:lnT w="12700">
                      <a:solidFill>
                        <a:srgbClr val="DEDEDF"/>
                      </a:solidFill>
                      <a:prstDash val="solid"/>
                    </a:lnT>
                    <a:lnB w="12700">
                      <a:solidFill>
                        <a:srgbClr val="DEDE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DEDEDF"/>
                      </a:solidFill>
                      <a:prstDash val="solid"/>
                    </a:lnL>
                    <a:lnR w="12700">
                      <a:solidFill>
                        <a:srgbClr val="DEDEDF"/>
                      </a:solidFill>
                      <a:prstDash val="solid"/>
                    </a:lnR>
                    <a:lnT w="12700">
                      <a:solidFill>
                        <a:srgbClr val="DEDEDF"/>
                      </a:solidFill>
                      <a:prstDash val="solid"/>
                    </a:lnT>
                    <a:lnB w="12700">
                      <a:solidFill>
                        <a:srgbClr val="DEDE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object 34"/>
          <p:cNvSpPr txBox="1"/>
          <p:nvPr/>
        </p:nvSpPr>
        <p:spPr>
          <a:xfrm>
            <a:off x="8529290" y="1640192"/>
            <a:ext cx="3160395" cy="243522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50"/>
              </a:spcBef>
            </a:pP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Ranked</a:t>
            </a:r>
            <a:r>
              <a:rPr dirty="0" sz="1700" spc="3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55">
                <a:solidFill>
                  <a:srgbClr val="1F2937"/>
                </a:solidFill>
                <a:latin typeface="Trebuchet MS"/>
                <a:cs typeface="Trebuchet MS"/>
              </a:rPr>
              <a:t>2022</a:t>
            </a:r>
            <a:r>
              <a:rPr dirty="0" sz="1700" spc="3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National</a:t>
            </a:r>
            <a:r>
              <a:rPr dirty="0" sz="1700" spc="4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Highway accidents:</a:t>
            </a:r>
            <a:r>
              <a:rPr dirty="0" sz="1700" spc="-9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1F2937"/>
                </a:solidFill>
                <a:latin typeface="Trebuchet MS"/>
                <a:cs typeface="Trebuchet MS"/>
              </a:rPr>
              <a:t>Tamil</a:t>
            </a:r>
            <a:r>
              <a:rPr dirty="0" sz="1700" spc="-9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1F2937"/>
                </a:solidFill>
                <a:latin typeface="Trebuchet MS"/>
                <a:cs typeface="Trebuchet MS"/>
              </a:rPr>
              <a:t>Nadu</a:t>
            </a:r>
            <a:r>
              <a:rPr dirty="0" sz="1700" spc="-8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18,972;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Kerala</a:t>
            </a:r>
            <a:r>
              <a:rPr dirty="0" sz="1700" spc="-9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17,627;</a:t>
            </a:r>
            <a:r>
              <a:rPr dirty="0" sz="1700" spc="-9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Uttar</a:t>
            </a:r>
            <a:r>
              <a:rPr dirty="0" sz="1700" spc="-9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Pradesh 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14,990;</a:t>
            </a:r>
            <a:r>
              <a:rPr dirty="0" sz="1700" spc="7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Madhya</a:t>
            </a:r>
            <a:r>
              <a:rPr dirty="0" sz="1700" spc="7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Pradesh</a:t>
            </a:r>
            <a:r>
              <a:rPr dirty="0" sz="1700" spc="7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13,860;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Karnataka</a:t>
            </a:r>
            <a:r>
              <a:rPr dirty="0" sz="1700" spc="-4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13,384;</a:t>
            </a:r>
            <a:r>
              <a:rPr dirty="0" sz="1700" spc="-4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Maharashtra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700" spc="-35">
                <a:solidFill>
                  <a:srgbClr val="1F2937"/>
                </a:solidFill>
                <a:latin typeface="Trebuchet MS"/>
                <a:cs typeface="Trebuchet MS"/>
              </a:rPr>
              <a:t>9,417;</a:t>
            </a:r>
            <a:r>
              <a:rPr dirty="0" sz="1700" spc="3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Andhra</a:t>
            </a:r>
            <a:r>
              <a:rPr dirty="0" sz="1700" spc="3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Pradesh</a:t>
            </a:r>
            <a:r>
              <a:rPr dirty="0" sz="1700" spc="3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8,650;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Telangana</a:t>
            </a:r>
            <a:r>
              <a:rPr dirty="0" sz="1700" spc="-7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1F2937"/>
                </a:solidFill>
                <a:latin typeface="Trebuchet MS"/>
                <a:cs typeface="Trebuchet MS"/>
              </a:rPr>
              <a:t>7,505;</a:t>
            </a:r>
            <a:r>
              <a:rPr dirty="0" sz="1700" spc="-7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Rajasthan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700" spc="-35">
                <a:solidFill>
                  <a:srgbClr val="1F2937"/>
                </a:solidFill>
                <a:latin typeface="Trebuchet MS"/>
                <a:cs typeface="Trebuchet MS"/>
              </a:rPr>
              <a:t>7,093;</a:t>
            </a:r>
            <a:r>
              <a:rPr dirty="0" sz="1700" spc="-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Bihar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4,601.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29290" y="4286237"/>
            <a:ext cx="3009900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Scope</a:t>
            </a:r>
            <a:r>
              <a:rPr dirty="0" sz="1250" spc="-30">
                <a:solidFill>
                  <a:srgbClr val="5B6577"/>
                </a:solidFill>
                <a:latin typeface="Trebuchet MS"/>
                <a:cs typeface="Trebuchet MS"/>
              </a:rPr>
              <a:t> note: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these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5B6577"/>
                </a:solidFill>
                <a:latin typeface="Trebuchet MS"/>
                <a:cs typeface="Trebuchet MS"/>
              </a:rPr>
              <a:t>are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the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report's</a:t>
            </a:r>
            <a:r>
              <a:rPr dirty="0" sz="1250" spc="-30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top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ten states,</a:t>
            </a:r>
            <a:r>
              <a:rPr dirty="0" sz="1250" spc="-30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not</a:t>
            </a:r>
            <a:r>
              <a:rPr dirty="0" sz="1250" spc="-30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all</a:t>
            </a:r>
            <a:r>
              <a:rPr dirty="0" sz="1250" spc="-30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5B6577"/>
                </a:solidFill>
                <a:latin typeface="Trebuchet MS"/>
                <a:cs typeface="Trebuchet MS"/>
              </a:rPr>
              <a:t>states.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29290" y="4953063"/>
            <a:ext cx="149352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0">
                <a:solidFill>
                  <a:srgbClr val="5B6577"/>
                </a:solidFill>
                <a:latin typeface="Trebuchet MS"/>
                <a:cs typeface="Trebuchet MS"/>
              </a:rPr>
              <a:t>Source:</a:t>
            </a:r>
            <a:r>
              <a:rPr dirty="0" sz="1250" spc="-30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MoRTH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/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PIB</a:t>
            </a:r>
            <a:endParaRPr sz="1250">
              <a:latin typeface="Trebuchet MS"/>
              <a:cs typeface="Trebuchet MS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0342244" y="6341042"/>
            <a:ext cx="1805939" cy="422275"/>
            <a:chOff x="10342244" y="6341042"/>
            <a:chExt cx="1805939" cy="422275"/>
          </a:xfrm>
        </p:grpSpPr>
        <p:pic>
          <p:nvPicPr>
            <p:cNvPr id="38" name="object 38">
              <a:hlinkClick r:id="rId5"/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42244" y="6343650"/>
              <a:ext cx="1754504" cy="419100"/>
            </a:xfrm>
            <a:prstGeom prst="rect">
              <a:avLst/>
            </a:prstGeom>
          </p:spPr>
        </p:pic>
        <p:pic>
          <p:nvPicPr>
            <p:cNvPr id="39" name="object 39">
              <a:hlinkClick r:id="rId5"/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395203" y="6341042"/>
              <a:ext cx="1752600" cy="392023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1850488" y="6533764"/>
            <a:ext cx="269240" cy="1930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z="1100" spc="-50">
                <a:solidFill>
                  <a:srgbClr val="1F2937"/>
                </a:solidFill>
                <a:latin typeface="Trebuchet MS"/>
                <a:cs typeface="Trebuchet MS"/>
                <a:hlinkClick r:id="rId5"/>
              </a:rPr>
              <a:t>2</a:t>
            </a:fld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1343088"/>
            <a:ext cx="2383155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B94A09"/>
                </a:solidFill>
                <a:latin typeface="Courier New"/>
                <a:cs typeface="Courier New"/>
              </a:rPr>
              <a:t>SHARE</a:t>
            </a:r>
            <a:r>
              <a:rPr dirty="0" sz="1250" spc="125">
                <a:solidFill>
                  <a:srgbClr val="B94A09"/>
                </a:solidFill>
                <a:latin typeface="Courier New"/>
                <a:cs typeface="Courier New"/>
              </a:rPr>
              <a:t> </a:t>
            </a:r>
            <a:r>
              <a:rPr dirty="0" sz="1250">
                <a:solidFill>
                  <a:srgbClr val="B94A09"/>
                </a:solidFill>
                <a:latin typeface="Courier New"/>
                <a:cs typeface="Courier New"/>
              </a:rPr>
              <a:t>OF</a:t>
            </a:r>
            <a:r>
              <a:rPr dirty="0" sz="1250" spc="125">
                <a:solidFill>
                  <a:srgbClr val="B94A09"/>
                </a:solidFill>
                <a:latin typeface="Courier New"/>
                <a:cs typeface="Courier New"/>
              </a:rPr>
              <a:t> </a:t>
            </a:r>
            <a:r>
              <a:rPr dirty="0" sz="1250">
                <a:solidFill>
                  <a:srgbClr val="B94A09"/>
                </a:solidFill>
                <a:latin typeface="Courier New"/>
                <a:cs typeface="Courier New"/>
              </a:rPr>
              <a:t>NATIONAL</a:t>
            </a:r>
            <a:r>
              <a:rPr dirty="0" sz="1250" spc="125">
                <a:solidFill>
                  <a:srgbClr val="B94A09"/>
                </a:solidFill>
                <a:latin typeface="Courier New"/>
                <a:cs typeface="Courier New"/>
              </a:rPr>
              <a:t> </a:t>
            </a:r>
            <a:r>
              <a:rPr dirty="0" sz="1250" spc="-10">
                <a:solidFill>
                  <a:srgbClr val="B94A09"/>
                </a:solidFill>
                <a:latin typeface="Courier New"/>
                <a:cs typeface="Courier New"/>
              </a:rPr>
              <a:t>TOTALS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48260" rIns="0" bIns="0" rtlCol="0" vert="horz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380"/>
              </a:spcBef>
            </a:pPr>
            <a:r>
              <a:rPr dirty="0" spc="-50"/>
              <a:t>National</a:t>
            </a:r>
            <a:r>
              <a:rPr dirty="0" spc="-229"/>
              <a:t> </a:t>
            </a:r>
            <a:r>
              <a:rPr dirty="0" spc="-70"/>
              <a:t>Highways</a:t>
            </a:r>
            <a:r>
              <a:rPr dirty="0" spc="-229"/>
              <a:t> </a:t>
            </a:r>
            <a:r>
              <a:rPr dirty="0" spc="-85"/>
              <a:t>carry </a:t>
            </a:r>
            <a:r>
              <a:rPr dirty="0"/>
              <a:t>a</a:t>
            </a:r>
            <a:r>
              <a:rPr dirty="0" spc="-245"/>
              <a:t> </a:t>
            </a:r>
            <a:r>
              <a:rPr dirty="0" spc="-90"/>
              <a:t>larger</a:t>
            </a:r>
            <a:r>
              <a:rPr dirty="0" spc="-245"/>
              <a:t> </a:t>
            </a:r>
            <a:r>
              <a:rPr dirty="0" spc="-75"/>
              <a:t>share</a:t>
            </a:r>
            <a:r>
              <a:rPr dirty="0" spc="-245"/>
              <a:t> </a:t>
            </a:r>
            <a:r>
              <a:rPr dirty="0" spc="-25"/>
              <a:t>of </a:t>
            </a:r>
            <a:r>
              <a:rPr dirty="0" spc="-75"/>
              <a:t>fatalities</a:t>
            </a:r>
            <a:r>
              <a:rPr dirty="0" spc="-229"/>
              <a:t> </a:t>
            </a:r>
            <a:r>
              <a:rPr dirty="0" spc="-70"/>
              <a:t>than</a:t>
            </a:r>
            <a:r>
              <a:rPr dirty="0" spc="-229"/>
              <a:t> </a:t>
            </a:r>
            <a:r>
              <a:rPr dirty="0" spc="-40"/>
              <a:t>accidents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199" y="3486149"/>
            <a:ext cx="2324100" cy="1571625"/>
          </a:xfrm>
          <a:prstGeom prst="rect">
            <a:avLst/>
          </a:prstGeom>
          <a:solidFill>
            <a:srgbClr val="F2F5F7"/>
          </a:solidFill>
        </p:spPr>
        <p:txBody>
          <a:bodyPr wrap="square" lIns="0" tIns="14287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125"/>
              </a:spcBef>
            </a:pPr>
            <a:r>
              <a:rPr dirty="0" sz="4200" spc="-10">
                <a:solidFill>
                  <a:srgbClr val="1F2937"/>
                </a:solidFill>
                <a:latin typeface="Courier New"/>
                <a:cs typeface="Courier New"/>
              </a:rPr>
              <a:t>32.94%</a:t>
            </a:r>
            <a:endParaRPr sz="4200">
              <a:latin typeface="Courier New"/>
              <a:cs typeface="Courier New"/>
            </a:endParaRPr>
          </a:p>
          <a:p>
            <a:pPr marL="228600">
              <a:lnSpc>
                <a:spcPct val="100000"/>
              </a:lnSpc>
              <a:spcBef>
                <a:spcPts val="2035"/>
              </a:spcBef>
            </a:pP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Accident</a:t>
            </a:r>
            <a:r>
              <a:rPr dirty="0" sz="1700" spc="-8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share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86099" y="3486149"/>
            <a:ext cx="2324100" cy="1571625"/>
          </a:xfrm>
          <a:prstGeom prst="rect">
            <a:avLst/>
          </a:prstGeom>
          <a:solidFill>
            <a:srgbClr val="2A3444"/>
          </a:solidFill>
        </p:spPr>
        <p:txBody>
          <a:bodyPr wrap="square" lIns="0" tIns="14287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125"/>
              </a:spcBef>
            </a:pPr>
            <a:r>
              <a:rPr dirty="0" sz="4200" spc="-10">
                <a:solidFill>
                  <a:srgbClr val="FFFFFF"/>
                </a:solidFill>
                <a:latin typeface="Courier New"/>
                <a:cs typeface="Courier New"/>
              </a:rPr>
              <a:t>36.22%</a:t>
            </a:r>
            <a:endParaRPr sz="4200">
              <a:latin typeface="Courier New"/>
              <a:cs typeface="Courier New"/>
            </a:endParaRPr>
          </a:p>
          <a:p>
            <a:pPr marL="228600">
              <a:lnSpc>
                <a:spcPct val="100000"/>
              </a:lnSpc>
              <a:spcBef>
                <a:spcPts val="2035"/>
              </a:spcBef>
            </a:pPr>
            <a:r>
              <a:rPr dirty="0" sz="1700" spc="-40">
                <a:solidFill>
                  <a:srgbClr val="FFFFFF"/>
                </a:solidFill>
                <a:latin typeface="Trebuchet MS"/>
                <a:cs typeface="Trebuchet MS"/>
              </a:rPr>
              <a:t>Fatality</a:t>
            </a:r>
            <a:r>
              <a:rPr dirty="0" sz="1700" spc="-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FFFFFF"/>
                </a:solidFill>
                <a:latin typeface="Trebuchet MS"/>
                <a:cs typeface="Trebuchet MS"/>
              </a:rPr>
              <a:t>share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21500" y="3440417"/>
            <a:ext cx="123825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100"/>
              </a:spcBef>
            </a:pP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including Expressways</a:t>
            </a:r>
            <a:endParaRPr sz="1700">
              <a:latin typeface="Trebuchet MS"/>
              <a:cs typeface="Trebuchet MS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781799" y="1447799"/>
          <a:ext cx="5029200" cy="2027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3864"/>
                <a:gridCol w="1639569"/>
                <a:gridCol w="1599564"/>
              </a:tblGrid>
              <a:tr h="633095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dirty="0" sz="1700">
                          <a:solidFill>
                            <a:srgbClr val="5B6577"/>
                          </a:solidFill>
                          <a:latin typeface="Courier New"/>
                          <a:cs typeface="Courier New"/>
                        </a:rPr>
                        <a:t>Road</a:t>
                      </a:r>
                      <a:r>
                        <a:rPr dirty="0" sz="1700" spc="-65">
                          <a:solidFill>
                            <a:srgbClr val="5B6577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1700" spc="-10">
                          <a:solidFill>
                            <a:srgbClr val="5B6577"/>
                          </a:solidFill>
                          <a:latin typeface="Courier New"/>
                          <a:cs typeface="Courier New"/>
                        </a:rPr>
                        <a:t>group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B="0" marT="165100">
                    <a:lnB w="9525">
                      <a:solidFill>
                        <a:srgbClr val="CBD3DE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266065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dirty="0" sz="1700" spc="-10">
                          <a:solidFill>
                            <a:srgbClr val="5B6577"/>
                          </a:solidFill>
                          <a:latin typeface="Courier New"/>
                          <a:cs typeface="Courier New"/>
                        </a:rPr>
                        <a:t>Accidents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B="0" marT="165100">
                    <a:lnB w="9525">
                      <a:solidFill>
                        <a:srgbClr val="CBD3DE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44780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dirty="0" sz="1700" spc="-10">
                          <a:solidFill>
                            <a:srgbClr val="5B6577"/>
                          </a:solidFill>
                          <a:latin typeface="Courier New"/>
                          <a:cs typeface="Courier New"/>
                        </a:rPr>
                        <a:t>Fatalities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B="0" marT="165100">
                    <a:lnB w="9525">
                      <a:solidFill>
                        <a:srgbClr val="CBD3DE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</a:tr>
              <a:tr h="637540"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dirty="0" sz="1700">
                          <a:solidFill>
                            <a:srgbClr val="1F2937"/>
                          </a:solidFill>
                          <a:latin typeface="Trebuchet MS"/>
                          <a:cs typeface="Trebuchet MS"/>
                        </a:rPr>
                        <a:t>All</a:t>
                      </a:r>
                      <a:r>
                        <a:rPr dirty="0" sz="1700" spc="-114">
                          <a:solidFill>
                            <a:srgbClr val="1F2937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700" spc="-10">
                          <a:solidFill>
                            <a:srgbClr val="1F2937"/>
                          </a:solidFill>
                          <a:latin typeface="Trebuchet MS"/>
                          <a:cs typeface="Trebuchet MS"/>
                        </a:rPr>
                        <a:t>roads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B="0" marT="169545">
                    <a:lnT w="9525">
                      <a:solidFill>
                        <a:srgbClr val="CBD3DE"/>
                      </a:solidFill>
                      <a:prstDash val="solid"/>
                    </a:lnT>
                    <a:lnB w="9525">
                      <a:solidFill>
                        <a:srgbClr val="CBD3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4145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dirty="0" sz="1700" spc="-10">
                          <a:solidFill>
                            <a:srgbClr val="1F2937"/>
                          </a:solidFill>
                          <a:latin typeface="Courier New"/>
                          <a:cs typeface="Courier New"/>
                        </a:rPr>
                        <a:t>461,312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B="0" marT="169545">
                    <a:lnT w="9525">
                      <a:solidFill>
                        <a:srgbClr val="CBD3DE"/>
                      </a:solidFill>
                      <a:prstDash val="solid"/>
                    </a:lnT>
                    <a:lnB w="9525">
                      <a:solidFill>
                        <a:srgbClr val="CBD3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44145">
                        <a:lnSpc>
                          <a:spcPct val="100000"/>
                        </a:lnSpc>
                        <a:spcBef>
                          <a:spcPts val="1335"/>
                        </a:spcBef>
                      </a:pPr>
                      <a:r>
                        <a:rPr dirty="0" sz="1700" spc="-10">
                          <a:solidFill>
                            <a:srgbClr val="1F2937"/>
                          </a:solidFill>
                          <a:latin typeface="Courier New"/>
                          <a:cs typeface="Courier New"/>
                        </a:rPr>
                        <a:t>168,491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B="0" marT="169545">
                    <a:lnT w="9525">
                      <a:solidFill>
                        <a:srgbClr val="CBD3DE"/>
                      </a:solidFill>
                      <a:prstDash val="solid"/>
                    </a:lnT>
                    <a:lnB w="9525">
                      <a:solidFill>
                        <a:srgbClr val="CBD3DE"/>
                      </a:solidFill>
                      <a:prstDash val="solid"/>
                    </a:lnB>
                  </a:tcPr>
                </a:tc>
              </a:tr>
              <a:tr h="756920">
                <a:tc>
                  <a:txBody>
                    <a:bodyPr/>
                    <a:lstStyle/>
                    <a:p>
                      <a:pPr marL="152400" marR="635635">
                        <a:lnSpc>
                          <a:spcPct val="117600"/>
                        </a:lnSpc>
                        <a:spcBef>
                          <a:spcPts val="1050"/>
                        </a:spcBef>
                      </a:pPr>
                      <a:r>
                        <a:rPr dirty="0" sz="1700" spc="-10">
                          <a:solidFill>
                            <a:srgbClr val="1F2937"/>
                          </a:solidFill>
                          <a:latin typeface="Trebuchet MS"/>
                          <a:cs typeface="Trebuchet MS"/>
                        </a:rPr>
                        <a:t>National Highways</a:t>
                      </a:r>
                      <a:endParaRPr sz="1700">
                        <a:latin typeface="Trebuchet MS"/>
                        <a:cs typeface="Trebuchet MS"/>
                      </a:endParaRPr>
                    </a:p>
                  </a:txBody>
                  <a:tcPr marL="0" marR="0" marB="0" marT="133350">
                    <a:lnT w="9525">
                      <a:solidFill>
                        <a:srgbClr val="CBD3D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414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700" spc="-10">
                          <a:solidFill>
                            <a:srgbClr val="1F2937"/>
                          </a:solidFill>
                          <a:latin typeface="Courier New"/>
                          <a:cs typeface="Courier New"/>
                        </a:rPr>
                        <a:t>151,997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B="0" marT="179070">
                    <a:lnT w="9525">
                      <a:solidFill>
                        <a:srgbClr val="CBD3D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14414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dirty="0" sz="1700" spc="-10">
                          <a:solidFill>
                            <a:srgbClr val="1F2937"/>
                          </a:solidFill>
                          <a:latin typeface="Courier New"/>
                          <a:cs typeface="Courier New"/>
                        </a:rPr>
                        <a:t>61,038</a:t>
                      </a:r>
                      <a:endParaRPr sz="1700">
                        <a:latin typeface="Courier New"/>
                        <a:cs typeface="Courier New"/>
                      </a:endParaRPr>
                    </a:p>
                  </a:txBody>
                  <a:tcPr marL="0" marR="0" marB="0" marT="179070">
                    <a:lnT w="9525">
                      <a:solidFill>
                        <a:srgbClr val="CBD3DE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6781787" y="426720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4953000" y="0"/>
                </a:moveTo>
                <a:lnTo>
                  <a:pt x="3352800" y="0"/>
                </a:lnTo>
                <a:lnTo>
                  <a:pt x="1828800" y="0"/>
                </a:lnTo>
                <a:lnTo>
                  <a:pt x="0" y="0"/>
                </a:lnTo>
                <a:lnTo>
                  <a:pt x="0" y="9525"/>
                </a:lnTo>
                <a:lnTo>
                  <a:pt x="1828800" y="9525"/>
                </a:lnTo>
                <a:lnTo>
                  <a:pt x="3352800" y="9525"/>
                </a:lnTo>
                <a:lnTo>
                  <a:pt x="4953000" y="9525"/>
                </a:lnTo>
                <a:lnTo>
                  <a:pt x="4953000" y="0"/>
                </a:lnTo>
                <a:close/>
              </a:path>
            </a:pathLst>
          </a:custGeom>
          <a:solidFill>
            <a:srgbClr val="CBD3D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769100" y="4450067"/>
            <a:ext cx="464312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100"/>
              </a:spcBef>
            </a:pPr>
            <a:r>
              <a:rPr dirty="0" sz="1700" spc="-55">
                <a:solidFill>
                  <a:srgbClr val="1F2937"/>
                </a:solidFill>
                <a:latin typeface="Trebuchet MS"/>
                <a:cs typeface="Trebuchet MS"/>
              </a:rPr>
              <a:t>Takeaway:</a:t>
            </a:r>
            <a:r>
              <a:rPr dirty="0" sz="1700" spc="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1F2937"/>
                </a:solidFill>
                <a:latin typeface="Trebuchet MS"/>
                <a:cs typeface="Trebuchet MS"/>
              </a:rPr>
              <a:t>fatality</a:t>
            </a:r>
            <a:r>
              <a:rPr dirty="0" sz="1700" spc="1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share</a:t>
            </a:r>
            <a:r>
              <a:rPr dirty="0" sz="1700" spc="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is</a:t>
            </a:r>
            <a:r>
              <a:rPr dirty="0" sz="1700" spc="1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higher</a:t>
            </a:r>
            <a:r>
              <a:rPr dirty="0" sz="1700" spc="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than</a:t>
            </a:r>
            <a:r>
              <a:rPr dirty="0" sz="1700" spc="1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accident share.</a:t>
            </a:r>
            <a:r>
              <a:rPr dirty="0" sz="1700" spc="-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Counts are not</a:t>
            </a:r>
            <a:r>
              <a:rPr dirty="0" sz="1700" spc="-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exposure-adjusted 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risk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rates.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500" y="5267388"/>
            <a:ext cx="149352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0">
                <a:solidFill>
                  <a:srgbClr val="5B6577"/>
                </a:solidFill>
                <a:latin typeface="Trebuchet MS"/>
                <a:cs typeface="Trebuchet MS"/>
              </a:rPr>
              <a:t>Source:</a:t>
            </a:r>
            <a:r>
              <a:rPr dirty="0" sz="1250" spc="-30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MoRTH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/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PIB</a:t>
            </a:r>
            <a:endParaRPr sz="125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342244" y="6343650"/>
            <a:ext cx="1770380" cy="448945"/>
            <a:chOff x="10342244" y="6343650"/>
            <a:chExt cx="1770380" cy="448945"/>
          </a:xfrm>
        </p:grpSpPr>
        <p:pic>
          <p:nvPicPr>
            <p:cNvPr id="12" name="object 12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2244" y="6343650"/>
              <a:ext cx="1754504" cy="419100"/>
            </a:xfrm>
            <a:prstGeom prst="rect">
              <a:avLst/>
            </a:prstGeom>
          </p:spPr>
        </p:pic>
        <p:pic>
          <p:nvPicPr>
            <p:cNvPr id="13" name="object 13">
              <a:hlinkClick r:id="rId2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59770" y="6400129"/>
              <a:ext cx="1752600" cy="392023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1850488" y="6533764"/>
            <a:ext cx="269240" cy="1930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z="1100" spc="-50">
                <a:solidFill>
                  <a:srgbClr val="1F2937"/>
                </a:solidFill>
                <a:latin typeface="Trebuchet MS"/>
                <a:cs typeface="Trebuchet MS"/>
                <a:hlinkClick r:id="rId2"/>
              </a:rPr>
              <a:t>2</a:t>
            </a:fld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104838"/>
            <a:ext cx="248158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B94A09"/>
                </a:solidFill>
                <a:latin typeface="Courier New"/>
                <a:cs typeface="Courier New"/>
              </a:rPr>
              <a:t>PROPOSED</a:t>
            </a:r>
            <a:r>
              <a:rPr dirty="0" sz="1250" spc="195">
                <a:solidFill>
                  <a:srgbClr val="B94A09"/>
                </a:solidFill>
                <a:latin typeface="Courier New"/>
                <a:cs typeface="Courier New"/>
              </a:rPr>
              <a:t> </a:t>
            </a:r>
            <a:r>
              <a:rPr dirty="0" sz="1250">
                <a:solidFill>
                  <a:srgbClr val="B94A09"/>
                </a:solidFill>
                <a:latin typeface="Courier New"/>
                <a:cs typeface="Courier New"/>
              </a:rPr>
              <a:t>DASHBOARD</a:t>
            </a:r>
            <a:r>
              <a:rPr dirty="0" sz="1250" spc="195">
                <a:solidFill>
                  <a:srgbClr val="B94A09"/>
                </a:solidFill>
                <a:latin typeface="Courier New"/>
                <a:cs typeface="Courier New"/>
              </a:rPr>
              <a:t> </a:t>
            </a:r>
            <a:r>
              <a:rPr dirty="0" sz="1250" spc="-10">
                <a:solidFill>
                  <a:srgbClr val="B94A09"/>
                </a:solidFill>
                <a:latin typeface="Courier New"/>
                <a:cs typeface="Courier New"/>
              </a:rPr>
              <a:t>LAYOUT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44500" y="358775"/>
            <a:ext cx="10633075" cy="1097915"/>
          </a:xfrm>
          <a:prstGeom prst="rect"/>
        </p:spPr>
        <p:txBody>
          <a:bodyPr wrap="square" lIns="0" tIns="48894" rIns="0" bIns="0" rtlCol="0" vert="horz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384"/>
              </a:spcBef>
            </a:pPr>
            <a:r>
              <a:rPr dirty="0" spc="-50"/>
              <a:t>Use</a:t>
            </a:r>
            <a:r>
              <a:rPr dirty="0" spc="-250"/>
              <a:t> </a:t>
            </a:r>
            <a:r>
              <a:rPr dirty="0" spc="-110"/>
              <a:t>the</a:t>
            </a:r>
            <a:r>
              <a:rPr dirty="0" spc="-245"/>
              <a:t> </a:t>
            </a:r>
            <a:r>
              <a:rPr dirty="0" spc="-30"/>
              <a:t>dashboard</a:t>
            </a:r>
            <a:r>
              <a:rPr dirty="0" spc="-245"/>
              <a:t> </a:t>
            </a:r>
            <a:r>
              <a:rPr dirty="0" spc="-55"/>
              <a:t>to</a:t>
            </a:r>
            <a:r>
              <a:rPr dirty="0" spc="-245"/>
              <a:t> </a:t>
            </a:r>
            <a:r>
              <a:rPr dirty="0" spc="-114"/>
              <a:t>connect</a:t>
            </a:r>
            <a:r>
              <a:rPr dirty="0" spc="-245"/>
              <a:t> </a:t>
            </a:r>
            <a:r>
              <a:rPr dirty="0" spc="-110"/>
              <a:t>the</a:t>
            </a:r>
            <a:r>
              <a:rPr dirty="0" spc="-245"/>
              <a:t> </a:t>
            </a:r>
            <a:r>
              <a:rPr dirty="0" spc="-100"/>
              <a:t>workflow</a:t>
            </a:r>
            <a:r>
              <a:rPr dirty="0" spc="-245"/>
              <a:t> </a:t>
            </a:r>
            <a:r>
              <a:rPr dirty="0" spc="-55"/>
              <a:t>to</a:t>
            </a:r>
            <a:r>
              <a:rPr dirty="0" spc="-245"/>
              <a:t> </a:t>
            </a:r>
            <a:r>
              <a:rPr dirty="0" spc="-65"/>
              <a:t>three </a:t>
            </a:r>
            <a:r>
              <a:rPr dirty="0" spc="-10"/>
              <a:t>findings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4500" y="1714563"/>
            <a:ext cx="6010910" cy="284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Proposed</a:t>
            </a:r>
            <a:r>
              <a:rPr dirty="0" sz="1700" spc="2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dashboard</a:t>
            </a:r>
            <a:r>
              <a:rPr dirty="0" sz="1700" spc="2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layout</a:t>
            </a:r>
            <a:r>
              <a:rPr dirty="0" sz="1700" spc="2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85">
                <a:solidFill>
                  <a:srgbClr val="1F2937"/>
                </a:solidFill>
                <a:latin typeface="Trebuchet MS"/>
                <a:cs typeface="Trebuchet MS"/>
              </a:rPr>
              <a:t>—</a:t>
            </a:r>
            <a:r>
              <a:rPr dirty="0" sz="1700" spc="2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not</a:t>
            </a:r>
            <a:r>
              <a:rPr dirty="0" sz="1700" spc="2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a</a:t>
            </a:r>
            <a:r>
              <a:rPr dirty="0" sz="1700" spc="2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live</a:t>
            </a:r>
            <a:r>
              <a:rPr dirty="0" sz="1700" spc="2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Power</a:t>
            </a:r>
            <a:r>
              <a:rPr dirty="0" sz="1700" spc="2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BI</a:t>
            </a:r>
            <a:r>
              <a:rPr dirty="0" sz="1700" spc="2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screenshot.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199" y="2257424"/>
            <a:ext cx="2705100" cy="657225"/>
          </a:xfrm>
          <a:prstGeom prst="rect">
            <a:avLst/>
          </a:prstGeom>
          <a:solidFill>
            <a:srgbClr val="F2F5F7"/>
          </a:solidFill>
        </p:spPr>
        <p:txBody>
          <a:bodyPr wrap="square" lIns="0" tIns="393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10"/>
              </a:spcBef>
            </a:pPr>
            <a:endParaRPr sz="125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</a:pPr>
            <a:r>
              <a:rPr dirty="0" sz="1250">
                <a:solidFill>
                  <a:srgbClr val="1F2937"/>
                </a:solidFill>
                <a:latin typeface="Trebuchet MS"/>
                <a:cs typeface="Trebuchet MS"/>
              </a:rPr>
              <a:t>2022</a:t>
            </a:r>
            <a:r>
              <a:rPr dirty="0" sz="1250" spc="7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1F2937"/>
                </a:solidFill>
                <a:latin typeface="Trebuchet MS"/>
                <a:cs typeface="Trebuchet MS"/>
              </a:rPr>
              <a:t>NH</a:t>
            </a:r>
            <a:r>
              <a:rPr dirty="0" sz="1250" spc="7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1F2937"/>
                </a:solidFill>
                <a:latin typeface="Trebuchet MS"/>
                <a:cs typeface="Trebuchet MS"/>
              </a:rPr>
              <a:t>accidents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14699" y="2257424"/>
            <a:ext cx="2705100" cy="657225"/>
          </a:xfrm>
          <a:prstGeom prst="rect">
            <a:avLst/>
          </a:prstGeom>
          <a:solidFill>
            <a:srgbClr val="F2F5F7"/>
          </a:solidFill>
        </p:spPr>
        <p:txBody>
          <a:bodyPr wrap="square" lIns="0" tIns="393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10"/>
              </a:spcBef>
            </a:pPr>
            <a:endParaRPr sz="125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</a:pPr>
            <a:r>
              <a:rPr dirty="0" sz="1250">
                <a:solidFill>
                  <a:srgbClr val="1F2937"/>
                </a:solidFill>
                <a:latin typeface="Trebuchet MS"/>
                <a:cs typeface="Trebuchet MS"/>
              </a:rPr>
              <a:t>2022</a:t>
            </a:r>
            <a:r>
              <a:rPr dirty="0" sz="1250" spc="7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1F2937"/>
                </a:solidFill>
                <a:latin typeface="Trebuchet MS"/>
                <a:cs typeface="Trebuchet MS"/>
              </a:rPr>
              <a:t>NH</a:t>
            </a:r>
            <a:r>
              <a:rPr dirty="0" sz="1250" spc="7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1F2937"/>
                </a:solidFill>
                <a:latin typeface="Trebuchet MS"/>
                <a:cs typeface="Trebuchet MS"/>
              </a:rPr>
              <a:t>fatalities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72199" y="2257424"/>
            <a:ext cx="2705100" cy="657225"/>
          </a:xfrm>
          <a:prstGeom prst="rect">
            <a:avLst/>
          </a:prstGeom>
          <a:solidFill>
            <a:srgbClr val="F2F5F7"/>
          </a:solidFill>
        </p:spPr>
        <p:txBody>
          <a:bodyPr wrap="square" lIns="0" tIns="393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10"/>
              </a:spcBef>
            </a:pPr>
            <a:endParaRPr sz="125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</a:pPr>
            <a:r>
              <a:rPr dirty="0" sz="1250">
                <a:solidFill>
                  <a:srgbClr val="1F2937"/>
                </a:solidFill>
                <a:latin typeface="Trebuchet MS"/>
                <a:cs typeface="Trebuchet MS"/>
              </a:rPr>
              <a:t>NH</a:t>
            </a:r>
            <a:r>
              <a:rPr dirty="0" sz="1250" spc="-2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250" spc="-10">
                <a:solidFill>
                  <a:srgbClr val="1F2937"/>
                </a:solidFill>
                <a:latin typeface="Trebuchet MS"/>
                <a:cs typeface="Trebuchet MS"/>
              </a:rPr>
              <a:t>accident</a:t>
            </a:r>
            <a:r>
              <a:rPr dirty="0" sz="1250" spc="-20">
                <a:solidFill>
                  <a:srgbClr val="1F2937"/>
                </a:solidFill>
                <a:latin typeface="Trebuchet MS"/>
                <a:cs typeface="Trebuchet MS"/>
              </a:rPr>
              <a:t> share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9699" y="2257424"/>
            <a:ext cx="2705100" cy="657225"/>
          </a:xfrm>
          <a:prstGeom prst="rect">
            <a:avLst/>
          </a:prstGeom>
          <a:solidFill>
            <a:srgbClr val="F2F5F7"/>
          </a:solidFill>
        </p:spPr>
        <p:txBody>
          <a:bodyPr wrap="square" lIns="0" tIns="393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10"/>
              </a:spcBef>
            </a:pPr>
            <a:endParaRPr sz="1250">
              <a:latin typeface="Times New Roman"/>
              <a:cs typeface="Times New Roman"/>
            </a:endParaRPr>
          </a:p>
          <a:p>
            <a:pPr marL="228600">
              <a:lnSpc>
                <a:spcPct val="100000"/>
              </a:lnSpc>
            </a:pPr>
            <a:r>
              <a:rPr dirty="0" sz="1250">
                <a:solidFill>
                  <a:srgbClr val="1F2937"/>
                </a:solidFill>
                <a:latin typeface="Trebuchet MS"/>
                <a:cs typeface="Trebuchet MS"/>
              </a:rPr>
              <a:t>NH </a:t>
            </a:r>
            <a:r>
              <a:rPr dirty="0" sz="1250" spc="-30">
                <a:solidFill>
                  <a:srgbClr val="1F2937"/>
                </a:solidFill>
                <a:latin typeface="Trebuchet MS"/>
                <a:cs typeface="Trebuchet MS"/>
              </a:rPr>
              <a:t>fatality</a:t>
            </a:r>
            <a:r>
              <a:rPr dirty="0" sz="1250" spc="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250" spc="-20">
                <a:solidFill>
                  <a:srgbClr val="1F2937"/>
                </a:solidFill>
                <a:latin typeface="Trebuchet MS"/>
                <a:cs typeface="Trebuchet MS"/>
              </a:rPr>
              <a:t>share</a:t>
            </a:r>
            <a:endParaRPr sz="12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4500" y="3133788"/>
            <a:ext cx="5387975" cy="1046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NH</a:t>
            </a:r>
            <a:r>
              <a:rPr dirty="0" sz="1700" spc="-4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trend</a:t>
            </a:r>
            <a:r>
              <a:rPr dirty="0" sz="1700" spc="-4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line</a:t>
            </a:r>
            <a:r>
              <a:rPr dirty="0" sz="1700" spc="-4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1F2937"/>
                </a:solidFill>
                <a:latin typeface="Trebuchet MS"/>
                <a:cs typeface="Trebuchet MS"/>
              </a:rPr>
              <a:t>and</a:t>
            </a:r>
            <a:r>
              <a:rPr dirty="0" sz="1700" spc="-4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ranked</a:t>
            </a:r>
            <a:r>
              <a:rPr dirty="0" sz="1700" spc="-4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top-ten</a:t>
            </a:r>
            <a:r>
              <a:rPr dirty="0" sz="1700" spc="-4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state</a:t>
            </a:r>
            <a:r>
              <a:rPr dirty="0" sz="1700" spc="-4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bars</a:t>
            </a:r>
            <a:endParaRPr sz="1700">
              <a:latin typeface="Trebuchet MS"/>
              <a:cs typeface="Trebuchet MS"/>
            </a:endParaRPr>
          </a:p>
          <a:p>
            <a:pPr marL="12700" marR="5080">
              <a:lnSpc>
                <a:spcPct val="117600"/>
              </a:lnSpc>
              <a:spcBef>
                <a:spcPts val="1200"/>
              </a:spcBef>
            </a:pPr>
            <a:r>
              <a:rPr dirty="0" sz="1700" spc="-30">
                <a:solidFill>
                  <a:srgbClr val="1F2937"/>
                </a:solidFill>
                <a:latin typeface="Trebuchet MS"/>
                <a:cs typeface="Trebuchet MS"/>
              </a:rPr>
              <a:t>Year</a:t>
            </a:r>
            <a:r>
              <a:rPr dirty="0" sz="1700" spc="-7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1F2937"/>
                </a:solidFill>
                <a:latin typeface="Trebuchet MS"/>
                <a:cs typeface="Trebuchet MS"/>
              </a:rPr>
              <a:t>slicer;</a:t>
            </a:r>
            <a:r>
              <a:rPr dirty="0" sz="1700" spc="-7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state</a:t>
            </a:r>
            <a:r>
              <a:rPr dirty="0" sz="1700" spc="-7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filtering</a:t>
            </a:r>
            <a:r>
              <a:rPr dirty="0" sz="1700" spc="-7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only</a:t>
            </a:r>
            <a:r>
              <a:rPr dirty="0" sz="1700" spc="-7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where</a:t>
            </a:r>
            <a:r>
              <a:rPr dirty="0" sz="1700" spc="-7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the</a:t>
            </a:r>
            <a:r>
              <a:rPr dirty="0" sz="1700" spc="-7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data</a:t>
            </a:r>
            <a:r>
              <a:rPr dirty="0" sz="1700" spc="-7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supports </a:t>
            </a:r>
            <a:r>
              <a:rPr dirty="0" sz="1700" spc="-25">
                <a:solidFill>
                  <a:srgbClr val="1F2937"/>
                </a:solidFill>
                <a:latin typeface="Trebuchet MS"/>
                <a:cs typeface="Trebuchet MS"/>
              </a:rPr>
              <a:t>it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11899" y="3133788"/>
            <a:ext cx="4727575" cy="1494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NH</a:t>
            </a:r>
            <a:r>
              <a:rPr dirty="0" sz="1700" spc="6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accidents</a:t>
            </a:r>
            <a:r>
              <a:rPr dirty="0" sz="1700" spc="6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rebounded</a:t>
            </a:r>
            <a:r>
              <a:rPr dirty="0" sz="1700" spc="6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in</a:t>
            </a:r>
            <a:r>
              <a:rPr dirty="0" sz="1700" spc="6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35">
                <a:solidFill>
                  <a:srgbClr val="1F2937"/>
                </a:solidFill>
                <a:latin typeface="Trebuchet MS"/>
                <a:cs typeface="Trebuchet MS"/>
              </a:rPr>
              <a:t>2022</a:t>
            </a:r>
            <a:endParaRPr sz="1700">
              <a:latin typeface="Trebuchet MS"/>
              <a:cs typeface="Trebuchet MS"/>
            </a:endParaRPr>
          </a:p>
          <a:p>
            <a:pPr marL="12700" marR="5080">
              <a:lnSpc>
                <a:spcPct val="117600"/>
              </a:lnSpc>
              <a:spcBef>
                <a:spcPts val="1200"/>
              </a:spcBef>
            </a:pPr>
            <a:r>
              <a:rPr dirty="0" sz="1700" spc="-25">
                <a:solidFill>
                  <a:srgbClr val="1F2937"/>
                </a:solidFill>
                <a:latin typeface="Trebuchet MS"/>
                <a:cs typeface="Trebuchet MS"/>
              </a:rPr>
              <a:t>Tamil </a:t>
            </a:r>
            <a:r>
              <a:rPr dirty="0" sz="1700" spc="50">
                <a:solidFill>
                  <a:srgbClr val="1F2937"/>
                </a:solidFill>
                <a:latin typeface="Trebuchet MS"/>
                <a:cs typeface="Trebuchet MS"/>
              </a:rPr>
              <a:t>Nadu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1F2937"/>
                </a:solidFill>
                <a:latin typeface="Trebuchet MS"/>
                <a:cs typeface="Trebuchet MS"/>
              </a:rPr>
              <a:t>had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the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largest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NH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count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among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1F2937"/>
                </a:solidFill>
                <a:latin typeface="Trebuchet MS"/>
                <a:cs typeface="Trebuchet MS"/>
              </a:rPr>
              <a:t>the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report's</a:t>
            </a:r>
            <a:r>
              <a:rPr dirty="0" sz="1700" spc="1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top</a:t>
            </a:r>
            <a:r>
              <a:rPr dirty="0" sz="1700" spc="1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1F2937"/>
                </a:solidFill>
                <a:latin typeface="Trebuchet MS"/>
                <a:cs typeface="Trebuchet MS"/>
              </a:rPr>
              <a:t>ten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NH</a:t>
            </a:r>
            <a:r>
              <a:rPr dirty="0" sz="1700" spc="-3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1F2937"/>
                </a:solidFill>
                <a:latin typeface="Trebuchet MS"/>
                <a:cs typeface="Trebuchet MS"/>
              </a:rPr>
              <a:t>fatality</a:t>
            </a:r>
            <a:r>
              <a:rPr dirty="0" sz="1700" spc="-3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share</a:t>
            </a:r>
            <a:r>
              <a:rPr dirty="0" sz="1700" spc="-3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exceeded</a:t>
            </a:r>
            <a:r>
              <a:rPr dirty="0" sz="1700" spc="-3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its</a:t>
            </a:r>
            <a:r>
              <a:rPr dirty="0" sz="1700" spc="-3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accident</a:t>
            </a:r>
            <a:r>
              <a:rPr dirty="0" sz="1700" spc="-3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share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500" y="4840592"/>
            <a:ext cx="10821035" cy="1604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3999"/>
              </a:lnSpc>
              <a:spcBef>
                <a:spcPts val="100"/>
              </a:spcBef>
            </a:pP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Future</a:t>
            </a:r>
            <a:r>
              <a:rPr dirty="0" sz="1700" spc="-5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scope:</a:t>
            </a:r>
            <a:r>
              <a:rPr dirty="0" sz="1700" spc="-5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1F2937"/>
                </a:solidFill>
                <a:latin typeface="Trebuchet MS"/>
                <a:cs typeface="Trebuchet MS"/>
              </a:rPr>
              <a:t>add</a:t>
            </a:r>
            <a:r>
              <a:rPr dirty="0" sz="1700" spc="-5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district/route-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level</a:t>
            </a:r>
            <a:r>
              <a:rPr dirty="0" sz="1700" spc="-5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e-DAR</a:t>
            </a:r>
            <a:r>
              <a:rPr dirty="0" sz="1700" spc="-5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30">
                <a:solidFill>
                  <a:srgbClr val="1F2937"/>
                </a:solidFill>
                <a:latin typeface="Trebuchet MS"/>
                <a:cs typeface="Trebuchet MS"/>
              </a:rPr>
              <a:t>data,</a:t>
            </a:r>
            <a:r>
              <a:rPr dirty="0" sz="1700" spc="-5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1F2937"/>
                </a:solidFill>
                <a:latin typeface="Trebuchet MS"/>
                <a:cs typeface="Trebuchet MS"/>
              </a:rPr>
              <a:t>traffic</a:t>
            </a:r>
            <a:r>
              <a:rPr dirty="0" sz="1700" spc="-5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volume,</a:t>
            </a:r>
            <a:r>
              <a:rPr dirty="0" sz="1700" spc="-5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1F2937"/>
                </a:solidFill>
                <a:latin typeface="Trebuchet MS"/>
                <a:cs typeface="Trebuchet MS"/>
              </a:rPr>
              <a:t>and</a:t>
            </a:r>
            <a:r>
              <a:rPr dirty="0" sz="1700" spc="-5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highway</a:t>
            </a:r>
            <a:r>
              <a:rPr dirty="0" sz="1700" spc="-5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length;</a:t>
            </a:r>
            <a:r>
              <a:rPr dirty="0" sz="1700" spc="-5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50">
                <a:solidFill>
                  <a:srgbClr val="1F2937"/>
                </a:solidFill>
                <a:latin typeface="Trebuchet MS"/>
                <a:cs typeface="Trebuchet MS"/>
              </a:rPr>
              <a:t>add</a:t>
            </a:r>
            <a:r>
              <a:rPr dirty="0" sz="1700" spc="-5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other</a:t>
            </a:r>
            <a:r>
              <a:rPr dirty="0" sz="1700" spc="-5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variables</a:t>
            </a:r>
            <a:r>
              <a:rPr dirty="0" sz="1700" spc="-5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0">
                <a:solidFill>
                  <a:srgbClr val="1F2937"/>
                </a:solidFill>
                <a:latin typeface="Trebuchet MS"/>
                <a:cs typeface="Trebuchet MS"/>
              </a:rPr>
              <a:t>only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when</a:t>
            </a:r>
            <a:r>
              <a:rPr dirty="0" sz="1700" spc="-1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sourced</a:t>
            </a:r>
            <a:r>
              <a:rPr dirty="0" sz="1700" spc="-1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1F2937"/>
                </a:solidFill>
                <a:latin typeface="Trebuchet MS"/>
                <a:cs typeface="Trebuchet MS"/>
              </a:rPr>
              <a:t>reliably.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Scope</a:t>
            </a:r>
            <a:r>
              <a:rPr dirty="0" sz="1700" spc="-1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35">
                <a:solidFill>
                  <a:srgbClr val="1F2937"/>
                </a:solidFill>
                <a:latin typeface="Trebuchet MS"/>
                <a:cs typeface="Trebuchet MS"/>
              </a:rPr>
              <a:t>note:</a:t>
            </a:r>
            <a:r>
              <a:rPr dirty="0" sz="1700" spc="-1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state-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level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NH</a:t>
            </a:r>
            <a:r>
              <a:rPr dirty="0" sz="1700" spc="-1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counts</a:t>
            </a:r>
            <a:r>
              <a:rPr dirty="0" sz="1700" spc="-1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cover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the</a:t>
            </a:r>
            <a:r>
              <a:rPr dirty="0" sz="1700" spc="-1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report's</a:t>
            </a:r>
            <a:r>
              <a:rPr dirty="0" sz="1700" spc="-1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top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ten</a:t>
            </a:r>
            <a:r>
              <a:rPr dirty="0" sz="1700" spc="-15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10">
                <a:solidFill>
                  <a:srgbClr val="1F2937"/>
                </a:solidFill>
                <a:latin typeface="Trebuchet MS"/>
                <a:cs typeface="Trebuchet MS"/>
              </a:rPr>
              <a:t>only.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700">
                <a:solidFill>
                  <a:srgbClr val="1F2937"/>
                </a:solidFill>
                <a:latin typeface="Trebuchet MS"/>
                <a:cs typeface="Trebuchet MS"/>
              </a:rPr>
              <a:t>Thank</a:t>
            </a:r>
            <a:r>
              <a:rPr dirty="0" sz="1700" spc="-30">
                <a:solidFill>
                  <a:srgbClr val="1F2937"/>
                </a:solidFill>
                <a:latin typeface="Trebuchet MS"/>
                <a:cs typeface="Trebuchet MS"/>
              </a:rPr>
              <a:t> </a:t>
            </a:r>
            <a:r>
              <a:rPr dirty="0" sz="1700" spc="-25">
                <a:solidFill>
                  <a:srgbClr val="1F2937"/>
                </a:solidFill>
                <a:latin typeface="Trebuchet MS"/>
                <a:cs typeface="Trebuchet MS"/>
              </a:rPr>
              <a:t>you</a:t>
            </a:r>
            <a:endParaRPr sz="17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250" spc="-20">
                <a:solidFill>
                  <a:srgbClr val="5B6577"/>
                </a:solidFill>
                <a:latin typeface="Trebuchet MS"/>
                <a:cs typeface="Trebuchet MS"/>
              </a:rPr>
              <a:t>Source:</a:t>
            </a:r>
            <a:r>
              <a:rPr dirty="0" sz="1250" spc="-30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MoRTH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</a:t>
            </a:r>
            <a:r>
              <a:rPr dirty="0" sz="1250">
                <a:solidFill>
                  <a:srgbClr val="5B6577"/>
                </a:solidFill>
                <a:latin typeface="Trebuchet MS"/>
                <a:cs typeface="Trebuchet MS"/>
              </a:rPr>
              <a:t>/</a:t>
            </a:r>
            <a:r>
              <a:rPr dirty="0" sz="1250" spc="-25">
                <a:solidFill>
                  <a:srgbClr val="5B6577"/>
                </a:solidFill>
                <a:latin typeface="Trebuchet MS"/>
                <a:cs typeface="Trebuchet MS"/>
              </a:rPr>
              <a:t> PIB</a:t>
            </a:r>
            <a:endParaRPr sz="125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300716" y="6329222"/>
            <a:ext cx="1796414" cy="433705"/>
            <a:chOff x="10300716" y="6329222"/>
            <a:chExt cx="1796414" cy="433705"/>
          </a:xfrm>
        </p:grpSpPr>
        <p:pic>
          <p:nvPicPr>
            <p:cNvPr id="13" name="object 13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42245" y="6343650"/>
              <a:ext cx="1754504" cy="419100"/>
            </a:xfrm>
            <a:prstGeom prst="rect">
              <a:avLst/>
            </a:prstGeom>
          </p:spPr>
        </p:pic>
        <p:pic>
          <p:nvPicPr>
            <p:cNvPr id="14" name="object 14">
              <a:hlinkClick r:id="rId2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300716" y="6329222"/>
              <a:ext cx="1752600" cy="39202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1850488" y="6533764"/>
            <a:ext cx="269240" cy="193040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dirty="0" sz="1100" spc="-50">
                <a:solidFill>
                  <a:srgbClr val="1F2937"/>
                </a:solidFill>
                <a:latin typeface="Trebuchet MS"/>
                <a:cs typeface="Trebuchet MS"/>
                <a:hlinkClick r:id="rId2"/>
              </a:rPr>
              <a:t>2</a:t>
            </a:fld>
            <a:endParaRPr sz="1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F293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2026-10-08T06:43:08Z</dcterms:created>
  <dcterms:modified xsi:type="dcterms:W3CDTF">2026-10-08T06:43:08Z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2026-10-08T00:00:00Z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2026-10-08T00:00:00Z</vt:filetime>
  </property>
  <property fmtid="{D5CDD505-2E9C-101B-9397-08002B2CF9AE}" pid="6" name="Producer">
    <vt:lpwstr>4-Heights™ PDF Library 3.4.0.6904 (http://www.pdf-tools.com)</vt:lpwstr>
  </property>
</Properties>
</file>